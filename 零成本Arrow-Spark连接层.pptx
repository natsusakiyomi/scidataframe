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EDA1BC-602D-4FC7-B7D9-57EDC7CF7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C05705-FBD6-4BE5-AFC6-6E44CFAD8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6A0946-E687-4AEC-92F2-F0C5F56B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521E9-19E9-4262-B425-A3D4E03B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F6CF3C-ADA5-40AA-89B4-7BC251BC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949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645BB-1B96-4030-AE74-62F2FDF6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35C69E-3C4E-4E9E-9D42-05A31A254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5E0E9-FAB3-49D1-A107-0E6CD72D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A776A-5336-43BC-8014-E8D2F8A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3DB00-39CE-4D65-8850-4AD2A4CF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5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AD739-E6BB-4D69-AA55-3AF65545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15FEBE-4489-4B55-91E8-97C27A5BA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8B0765-6DFC-468E-8F16-8724E2E23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928C85-A7B3-4443-B766-3396C123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E48E8-5E9A-4ED9-9D46-C287E02F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19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9EADD-2C52-4370-8359-3D1930D0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F6C9E-ED62-489B-9781-669CB91FE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E28504-AC53-476F-AFB2-CCBEA0DE5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81944C-A8AD-4EB7-B694-FCC5DB43D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3979F1-6A2D-42B0-8756-3405D49B4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0F1E88-677B-4F25-BF83-E32E15E4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979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031C3-F020-4368-AF24-16FC55A4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F510ED-A21D-40B4-81CF-A76EA5EDD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AD424C-8FF3-4E79-AD7A-A25B468D5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70D36E-2B15-486C-A68C-E30F3E807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4E3252-7876-4E8B-97CB-405A7BF61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A59BDE-D94A-4FFA-83D1-B626ECB9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81E0CC-B0BA-4991-9DC7-7FA426CD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D3ACF6-81FE-412D-AD3D-D6357591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90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B874D-4FB5-4319-80FE-0126EDC04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75FE30-E11D-4AED-BD38-F9AB5A1A7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BD6158-9580-45A5-8BD3-8A038140E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7D64BD-DA8D-49E9-A61F-0519D19A4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15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6B1FE7-CD58-4700-87BC-3341C3FE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28D741-14B5-4B11-B5B0-8D7C7A2D1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69742C-A403-4D9A-96E0-BA9D7B72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09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D4F9C-FD10-4B0B-9B4C-A6F965B2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8D4A5-EE13-459A-AA88-D4FC179FE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2B61EF-D1E5-41AF-9BCE-5EF23CEA2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DACAC4-F261-4DB7-B350-F1DE4EB50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634BC8-24C3-4525-88CB-726BAEF4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825609-7EAA-4EB0-BD6A-4B370C00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9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CDABE-17DD-4B88-A0A5-D5D2C26BB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BB37AC-65D7-4816-8636-D33A5F3F2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C02D1E-131C-409C-A37B-705F628BE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EE3203-DFF6-4E1F-BE42-AF712359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985A24-C6C5-493A-BEF4-CDDC8FD38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153120-8717-45C5-828A-142FB27D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71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6CD46-A478-4E39-9B68-20E71338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270789-27A6-40B4-8552-501D8A3DB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182485-545D-461C-BC57-A97F76AA8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A4E4F-FFE3-418C-948D-2E28AFA6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386D8-9783-49BA-AC6D-F9D18DC0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45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B8718C-8A7C-4BB8-9079-3A2F0F7EE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E6259D-C798-46E1-9CA6-6D3BE7D1D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D7576-C993-407F-A0CC-0F84070D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88DCAF-BACC-4D2F-970F-680338B3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A4C71-C1BE-47A2-9772-F792B1D7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30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B3D1FD-E7AB-464B-8C15-BC12655C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E37CEB-A592-4843-824F-1BD3937AA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73B380-435E-4B55-81E0-ADFCD307E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96EB2-09E6-42D7-8E69-EC461DA47154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7A4D0-45BD-4BD8-ACCF-58F96CC5F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4803B4-26BE-4177-B5A3-3792A5221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01B0A-455D-4DF7-8DE7-BD67B9E6F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01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104EB-00EE-4F92-A114-FA8EBA088D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零成本</a:t>
            </a:r>
            <a:r>
              <a:rPr lang="en-US" altLang="zh-CN" dirty="0"/>
              <a:t>Arrow-Spark</a:t>
            </a:r>
            <a:r>
              <a:rPr lang="zh-CN" altLang="en-US" dirty="0"/>
              <a:t>连接层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C260C8-86BF-4AAA-9EA7-81F74D326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5458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3E52D-A2BF-4F86-8401-0D7EE6E2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摘要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9CA3C-D384-4FB1-B84F-682C57EA8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重申了对</a:t>
            </a:r>
            <a:r>
              <a:rPr lang="en-US" altLang="zh-CN" dirty="0">
                <a:effectLst/>
              </a:rPr>
              <a:t>arrow</a:t>
            </a:r>
            <a:r>
              <a:rPr lang="zh-CN" altLang="en-US" dirty="0">
                <a:effectLst/>
              </a:rPr>
              <a:t>的需求：作为数据格式中介 互联各自领域专业性较强的组件</a:t>
            </a:r>
            <a:r>
              <a:rPr lang="zh-CN" altLang="en-US" dirty="0"/>
              <a:t>；使用</a:t>
            </a:r>
            <a:r>
              <a:rPr lang="zh-CN" altLang="en-US" dirty="0">
                <a:effectLst/>
              </a:rPr>
              <a:t>内存传输</a:t>
            </a:r>
            <a:r>
              <a:rPr lang="zh-CN" altLang="en-US" dirty="0"/>
              <a:t>；</a:t>
            </a:r>
            <a:r>
              <a:rPr lang="zh-CN" altLang="en-US" dirty="0">
                <a:effectLst/>
              </a:rPr>
              <a:t>允许数据处理引擎和存储引擎间高效传输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现有问题：数据处理后转换为数据存储形式开销大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对每一种存储形式都需要对应的</a:t>
            </a:r>
            <a:r>
              <a:rPr lang="en-US" altLang="zh-CN" dirty="0">
                <a:effectLst/>
              </a:rPr>
              <a:t>readers</a:t>
            </a:r>
          </a:p>
          <a:p>
            <a:r>
              <a:rPr lang="zh-CN" altLang="en-US" dirty="0"/>
              <a:t>如何解决：</a:t>
            </a:r>
            <a:r>
              <a:rPr lang="zh-CN" altLang="en-US" dirty="0">
                <a:effectLst/>
              </a:rPr>
              <a:t>通过</a:t>
            </a:r>
            <a:r>
              <a:rPr lang="en-US" altLang="zh-CN" dirty="0">
                <a:effectLst/>
              </a:rPr>
              <a:t>arrow dataset </a:t>
            </a:r>
            <a:r>
              <a:rPr lang="en-US" altLang="zh-CN" dirty="0" err="1">
                <a:effectLst/>
              </a:rPr>
              <a:t>api</a:t>
            </a:r>
            <a:r>
              <a:rPr lang="zh-CN" altLang="en-US" dirty="0">
                <a:effectLst/>
              </a:rPr>
              <a:t>构建了一个新的</a:t>
            </a:r>
            <a:r>
              <a:rPr lang="en-US" altLang="zh-CN" dirty="0">
                <a:effectLst/>
              </a:rPr>
              <a:t>spark</a:t>
            </a:r>
            <a:r>
              <a:rPr lang="zh-CN" altLang="en-US" dirty="0">
                <a:effectLst/>
              </a:rPr>
              <a:t>与</a:t>
            </a:r>
            <a:r>
              <a:rPr lang="en-US" altLang="zh-CN" dirty="0">
                <a:effectLst/>
              </a:rPr>
              <a:t>arrow</a:t>
            </a:r>
            <a:r>
              <a:rPr lang="zh-CN" altLang="en-US" dirty="0">
                <a:effectLst/>
              </a:rPr>
              <a:t>数据之间的互联层。更好地分离了计算层（</a:t>
            </a:r>
            <a:r>
              <a:rPr lang="en-US" altLang="zh-CN" dirty="0">
                <a:effectLst/>
              </a:rPr>
              <a:t>spark</a:t>
            </a:r>
            <a:r>
              <a:rPr lang="zh-CN" altLang="en-US" dirty="0">
                <a:effectLst/>
              </a:rPr>
              <a:t>）和数据层（</a:t>
            </a:r>
            <a:r>
              <a:rPr lang="en-US" altLang="zh-CN" dirty="0">
                <a:effectLst/>
              </a:rPr>
              <a:t>arrow</a:t>
            </a:r>
            <a:r>
              <a:rPr lang="zh-CN" altLang="en-US" dirty="0">
                <a:effectLst/>
              </a:rPr>
              <a:t>）</a:t>
            </a:r>
          </a:p>
          <a:p>
            <a:endParaRPr lang="en-US" altLang="zh-CN" dirty="0">
              <a:effectLst/>
            </a:endParaRPr>
          </a:p>
          <a:p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E37CD3F3-5F01-4CEC-BBE7-DB1B6F0D7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342" y="3309938"/>
            <a:ext cx="6867525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153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E1CC9-F35A-4809-AA01-4C8363FE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8"/>
            <a:ext cx="10515600" cy="1325563"/>
          </a:xfrm>
        </p:spPr>
        <p:txBody>
          <a:bodyPr/>
          <a:lstStyle/>
          <a:p>
            <a:r>
              <a:rPr lang="zh-CN" altLang="en-US" dirty="0"/>
              <a:t>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48E19D-A130-4F0A-BC43-115A8DA4D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26" y="1241424"/>
            <a:ext cx="5486400" cy="503237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effectLst/>
              </a:rPr>
              <a:t>调用了</a:t>
            </a:r>
            <a:r>
              <a:rPr lang="en-US" altLang="zh-CN" dirty="0">
                <a:effectLst/>
              </a:rPr>
              <a:t>JNI</a:t>
            </a:r>
            <a:r>
              <a:rPr lang="zh-CN" altLang="en-US" dirty="0">
                <a:effectLst/>
              </a:rPr>
              <a:t>实现高效转换（</a:t>
            </a:r>
            <a:r>
              <a:rPr lang="en-US" altLang="zh-CN" dirty="0" err="1">
                <a:effectLst/>
              </a:rPr>
              <a:t>pyarrow</a:t>
            </a:r>
            <a:r>
              <a:rPr lang="zh-CN" altLang="en-US" dirty="0">
                <a:effectLst/>
              </a:rPr>
              <a:t>类似）</a:t>
            </a:r>
            <a:endParaRPr lang="en-US" altLang="zh-CN" dirty="0">
              <a:effectLst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/>
              <a:t>*</a:t>
            </a:r>
            <a:r>
              <a:rPr lang="zh-CN" altLang="en-US" dirty="0">
                <a:effectLst/>
              </a:rPr>
              <a:t>已经有了</a:t>
            </a:r>
            <a:r>
              <a:rPr lang="en-US" altLang="zh-CN" dirty="0">
                <a:effectLst/>
              </a:rPr>
              <a:t>dataset </a:t>
            </a:r>
            <a:r>
              <a:rPr lang="en-US" altLang="zh-CN" dirty="0" err="1">
                <a:effectLst/>
              </a:rPr>
              <a:t>api</a:t>
            </a:r>
            <a:r>
              <a:rPr lang="zh-CN" altLang="en-US" dirty="0">
                <a:effectLst/>
              </a:rPr>
              <a:t>的</a:t>
            </a:r>
            <a:r>
              <a:rPr lang="en-US" altLang="zh-CN" dirty="0">
                <a:effectLst/>
              </a:rPr>
              <a:t>java</a:t>
            </a:r>
            <a:r>
              <a:rPr lang="zh-CN" altLang="en-US" dirty="0">
                <a:effectLst/>
              </a:rPr>
              <a:t>实现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effectLst/>
              </a:rPr>
              <a:t>⑥的过程必然导致数据复制</a:t>
            </a:r>
            <a:endParaRPr lang="en-US" altLang="zh-CN" dirty="0">
              <a:effectLst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effectLst/>
              </a:rPr>
              <a:t>如何从</a:t>
            </a:r>
            <a:r>
              <a:rPr lang="en-US" altLang="zh-CN" dirty="0">
                <a:effectLst/>
              </a:rPr>
              <a:t>arrow</a:t>
            </a:r>
            <a:r>
              <a:rPr lang="zh-CN" altLang="en-US" dirty="0">
                <a:effectLst/>
              </a:rPr>
              <a:t>获得数据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>
                <a:effectLst/>
              </a:rPr>
              <a:t>用一个</a:t>
            </a:r>
            <a:r>
              <a:rPr lang="en-US" altLang="zh-CN" dirty="0">
                <a:effectLst/>
              </a:rPr>
              <a:t>scanner scan dataset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>
                <a:effectLst/>
              </a:rPr>
              <a:t>scanner</a:t>
            </a:r>
            <a:r>
              <a:rPr lang="zh-CN" altLang="en-US" dirty="0">
                <a:effectLst/>
              </a:rPr>
              <a:t>提供一个</a:t>
            </a:r>
            <a:r>
              <a:rPr lang="en-US" altLang="zh-CN" dirty="0">
                <a:effectLst/>
              </a:rPr>
              <a:t>scan</a:t>
            </a:r>
            <a:r>
              <a:rPr lang="zh-CN" altLang="en-US" dirty="0"/>
              <a:t>任务</a:t>
            </a:r>
            <a:r>
              <a:rPr lang="zh-CN" altLang="en-US" dirty="0">
                <a:effectLst/>
              </a:rPr>
              <a:t>列表 每个任务将加载的批结果放入内存 作为</a:t>
            </a:r>
            <a:r>
              <a:rPr lang="en-US" altLang="zh-CN" dirty="0" err="1">
                <a:effectLst/>
              </a:rPr>
              <a:t>ipc</a:t>
            </a:r>
            <a:r>
              <a:rPr lang="zh-CN" altLang="en-US" dirty="0">
                <a:effectLst/>
              </a:rPr>
              <a:t>消息</a:t>
            </a:r>
            <a:endParaRPr lang="en-US" altLang="zh-CN" dirty="0">
              <a:effectLst/>
            </a:endParaRPr>
          </a:p>
          <a:p>
            <a:pPr>
              <a:lnSpc>
                <a:spcPct val="120000"/>
              </a:lnSpc>
            </a:pPr>
            <a:r>
              <a:rPr lang="en-US" altLang="zh-CN" dirty="0" err="1"/>
              <a:t>VectorSchemaRoot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用于转换列行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arrow</a:t>
            </a:r>
            <a:r>
              <a:rPr lang="zh-CN" altLang="en-US" dirty="0"/>
              <a:t>每列被包装为</a:t>
            </a:r>
            <a:r>
              <a:rPr lang="en-US" altLang="zh-CN" dirty="0" err="1"/>
              <a:t>ColumnarBatch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spark</a:t>
            </a:r>
            <a:r>
              <a:rPr lang="zh-CN" altLang="en-US" dirty="0"/>
              <a:t>和</a:t>
            </a:r>
            <a:r>
              <a:rPr lang="en-US" altLang="zh-CN" dirty="0"/>
              <a:t>arrow</a:t>
            </a:r>
            <a:r>
              <a:rPr lang="zh-CN" altLang="en-US" dirty="0"/>
              <a:t>之间交互惰性执行不需要加载所有数据</a:t>
            </a:r>
            <a:r>
              <a:rPr lang="en-US" altLang="zh-CN" dirty="0"/>
              <a:t>——</a:t>
            </a:r>
            <a:r>
              <a:rPr lang="zh-CN" altLang="en-US" dirty="0"/>
              <a:t>这样避免了外部资源远超内存的情况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>
                <a:effectLst/>
              </a:rPr>
              <a:t>spark</a:t>
            </a:r>
            <a:r>
              <a:rPr lang="zh-CN" altLang="en-US" dirty="0">
                <a:effectLst/>
              </a:rPr>
              <a:t>可以选择</a:t>
            </a:r>
            <a:r>
              <a:rPr lang="en-US" altLang="zh-CN" dirty="0">
                <a:effectLst/>
              </a:rPr>
              <a:t>RDD</a:t>
            </a:r>
            <a:r>
              <a:rPr lang="zh-CN" altLang="en-US" dirty="0">
                <a:effectLst/>
              </a:rPr>
              <a:t>或</a:t>
            </a:r>
            <a:r>
              <a:rPr lang="en-US" altLang="zh-CN" dirty="0" err="1">
                <a:effectLst/>
              </a:rPr>
              <a:t>dataframe</a:t>
            </a:r>
            <a:r>
              <a:rPr lang="zh-CN" altLang="en-US" dirty="0">
                <a:effectLst/>
              </a:rPr>
              <a:t>或</a:t>
            </a:r>
            <a:r>
              <a:rPr lang="en-US" altLang="zh-CN" dirty="0">
                <a:effectLst/>
              </a:rPr>
              <a:t>datasets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effectLst/>
              </a:rPr>
              <a:t>可以选择数据集分割数，也可以自定义</a:t>
            </a:r>
            <a:r>
              <a:rPr lang="en-US" altLang="zh-CN" dirty="0">
                <a:effectLst/>
              </a:rPr>
              <a:t>splitter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effectLst/>
              </a:rPr>
              <a:t>没有改变基本</a:t>
            </a:r>
            <a:r>
              <a:rPr lang="en-US" altLang="zh-CN" dirty="0">
                <a:effectLst/>
              </a:rPr>
              <a:t>API .arrow</a:t>
            </a:r>
            <a:r>
              <a:rPr lang="zh-CN" altLang="en-US" dirty="0">
                <a:effectLst/>
              </a:rPr>
              <a:t>中隐式实现了</a:t>
            </a:r>
            <a:r>
              <a:rPr lang="en-US" altLang="zh-CN" dirty="0" err="1">
                <a:effectLst/>
              </a:rPr>
              <a:t>ArrowRDD</a:t>
            </a:r>
            <a:r>
              <a:rPr lang="zh-CN" altLang="en-US" dirty="0">
                <a:effectLst/>
              </a:rPr>
              <a:t>的加载</a:t>
            </a:r>
            <a:endParaRPr lang="en-US" altLang="zh-CN" dirty="0">
              <a:effectLst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effectLst/>
              </a:rPr>
              <a:t>相对使用</a:t>
            </a:r>
            <a:r>
              <a:rPr lang="en-US" altLang="zh-CN" dirty="0" err="1">
                <a:effectLst/>
              </a:rPr>
              <a:t>pyarrow</a:t>
            </a:r>
            <a:r>
              <a:rPr lang="zh-CN" altLang="en-US" dirty="0">
                <a:effectLst/>
              </a:rPr>
              <a:t>提升</a:t>
            </a:r>
            <a:r>
              <a:rPr lang="en-US" altLang="zh-CN" dirty="0">
                <a:effectLst/>
              </a:rPr>
              <a:t>30-50</a:t>
            </a:r>
            <a:r>
              <a:rPr lang="zh-CN" altLang="en-US" dirty="0">
                <a:effectLst/>
              </a:rPr>
              <a:t>倍</a:t>
            </a:r>
          </a:p>
          <a:p>
            <a:pPr>
              <a:lnSpc>
                <a:spcPct val="120000"/>
              </a:lnSpc>
            </a:pPr>
            <a:endParaRPr lang="en-US" altLang="zh-CN" dirty="0">
              <a:effectLst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  <a:p>
            <a:pPr lvl="1"/>
            <a:endParaRPr lang="en-US" altLang="zh-CN" dirty="0"/>
          </a:p>
          <a:p>
            <a:endParaRPr lang="zh-CN" altLang="en-US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  <a:p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2909EB-727B-4F48-BB36-F40706743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319" y="289363"/>
            <a:ext cx="5549902" cy="348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91B19E42-0723-4E10-B343-45C1AB8A1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733" y="4715933"/>
            <a:ext cx="5900475" cy="122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2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26399-E7DD-4924-95D0-8DD1EECD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341F9E-E411-4F07-A8D8-52981D03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实验设置：</a:t>
            </a:r>
            <a:r>
              <a:rPr lang="en-US" altLang="zh-CN" dirty="0"/>
              <a:t>5</a:t>
            </a:r>
            <a:r>
              <a:rPr lang="zh-CN" altLang="en-US" dirty="0"/>
              <a:t>个实验每个重复</a:t>
            </a:r>
            <a:r>
              <a:rPr lang="en-US" altLang="zh-CN" dirty="0"/>
              <a:t>31</a:t>
            </a:r>
            <a:r>
              <a:rPr lang="zh-CN" altLang="en-US" dirty="0"/>
              <a:t>次放弃第一次因为</a:t>
            </a:r>
            <a:r>
              <a:rPr lang="en-US" altLang="zh-CN" dirty="0"/>
              <a:t>JVM</a:t>
            </a:r>
            <a:r>
              <a:rPr lang="zh-CN" altLang="en-US" dirty="0"/>
              <a:t>内存的“冷启动”</a:t>
            </a:r>
            <a:endParaRPr lang="en-US" altLang="zh-CN" dirty="0"/>
          </a:p>
          <a:p>
            <a:pPr lvl="1"/>
            <a:r>
              <a:rPr lang="zh-CN" altLang="en-US" dirty="0"/>
              <a:t>早期实验表明传输瓶颈完全在硬盘读取速度上，证明框架的无损耗</a:t>
            </a:r>
            <a:endParaRPr lang="en-US" altLang="zh-CN" dirty="0"/>
          </a:p>
          <a:p>
            <a:pPr lvl="1"/>
            <a:r>
              <a:rPr lang="zh-CN" altLang="en-US" dirty="0"/>
              <a:t>对数据集使用</a:t>
            </a:r>
            <a:r>
              <a:rPr lang="en-US" altLang="zh-CN" dirty="0" err="1"/>
              <a:t>hardlinks</a:t>
            </a:r>
            <a:r>
              <a:rPr lang="zh-CN" altLang="en-US" dirty="0"/>
              <a:t>可以模拟创建任意个单位大小的数据集，无视</a:t>
            </a:r>
            <a:r>
              <a:rPr lang="en-US" altLang="zh-CN" dirty="0"/>
              <a:t>RAM</a:t>
            </a:r>
            <a:r>
              <a:rPr lang="zh-CN" altLang="en-US" dirty="0"/>
              <a:t>约束</a:t>
            </a:r>
            <a:endParaRPr lang="en-US" altLang="zh-CN" dirty="0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132DD8CE-72E9-47A6-9386-C83C99116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475" y="3761316"/>
            <a:ext cx="6867525" cy="286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43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8D45A-6B2B-47F6-A48C-25FDE6BD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C83B8F-3139-444A-81B4-6A862924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批处理大小对读取速度的影响，即便很大最终瓶颈是</a:t>
            </a:r>
            <a:r>
              <a:rPr lang="en-US" altLang="zh-CN" dirty="0"/>
              <a:t>spark</a:t>
            </a:r>
            <a:r>
              <a:rPr lang="zh-CN" altLang="en-US" dirty="0"/>
              <a:t>的处理速度 最佳恰好与</a:t>
            </a:r>
            <a:r>
              <a:rPr lang="en-US" altLang="zh-CN" dirty="0"/>
              <a:t>l2</a:t>
            </a:r>
            <a:r>
              <a:rPr lang="zh-CN" altLang="en-US" dirty="0"/>
              <a:t>缓存相等</a:t>
            </a:r>
            <a:endParaRPr lang="en-US" altLang="zh-CN" dirty="0"/>
          </a:p>
          <a:p>
            <a:r>
              <a:rPr lang="zh-CN" altLang="en-US" dirty="0"/>
              <a:t>批越小 </a:t>
            </a:r>
            <a:r>
              <a:rPr lang="en-US" altLang="zh-CN" dirty="0" err="1"/>
              <a:t>ipc</a:t>
            </a:r>
            <a:r>
              <a:rPr lang="zh-CN" altLang="en-US" dirty="0"/>
              <a:t>开销和转换开销大</a:t>
            </a:r>
            <a:r>
              <a:rPr lang="en-US" altLang="zh-CN" dirty="0"/>
              <a:t>——</a:t>
            </a:r>
            <a:r>
              <a:rPr lang="zh-CN" altLang="en-US" dirty="0"/>
              <a:t>应该尽量提高</a:t>
            </a:r>
            <a:r>
              <a:rPr lang="en-US" altLang="zh-CN" dirty="0"/>
              <a:t>batch-size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9222D8-4F56-45F4-B42F-A8A6FE45F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68" y="3835029"/>
            <a:ext cx="7544853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9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71F9C-76F9-42B4-8DEA-29F6EBF5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D6C857-E66D-430F-8858-D11DBAEE2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JNI</a:t>
            </a:r>
            <a:r>
              <a:rPr lang="zh-CN" altLang="en-US" dirty="0"/>
              <a:t>开销等恒有开销占主要，读取本身快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4272C0F-21AB-4DA7-816C-5790BE9CE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042" y="2770463"/>
            <a:ext cx="7459116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1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BF926-EE27-4F47-B4B8-CD13666A2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196"/>
            <a:ext cx="10515600" cy="1325563"/>
          </a:xfrm>
        </p:spPr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8BD519-F467-4C8D-8D71-EC19372AB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759"/>
            <a:ext cx="10515600" cy="4351338"/>
          </a:xfrm>
        </p:spPr>
        <p:txBody>
          <a:bodyPr/>
          <a:lstStyle/>
          <a:p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/>
              <a:t>快很多由于</a:t>
            </a:r>
            <a:r>
              <a:rPr lang="en-US" altLang="zh-CN" dirty="0"/>
              <a:t>spark</a:t>
            </a:r>
            <a:r>
              <a:rPr lang="zh-CN" altLang="en-US" dirty="0"/>
              <a:t>用的</a:t>
            </a:r>
            <a:r>
              <a:rPr lang="en-US" altLang="zh-CN" dirty="0"/>
              <a:t>java Univocity-CSV parser</a:t>
            </a:r>
            <a:r>
              <a:rPr lang="zh-CN" altLang="en-US" dirty="0"/>
              <a:t>而</a:t>
            </a:r>
            <a:r>
              <a:rPr lang="en-US" altLang="zh-CN" dirty="0"/>
              <a:t>arrow-spark</a:t>
            </a:r>
            <a:r>
              <a:rPr lang="zh-CN" altLang="en-US" dirty="0"/>
              <a:t>用的</a:t>
            </a:r>
            <a:r>
              <a:rPr lang="en-US" altLang="zh-CN" dirty="0"/>
              <a:t>arrow </a:t>
            </a:r>
            <a:r>
              <a:rPr lang="en-US" altLang="zh-CN" dirty="0" err="1"/>
              <a:t>c++</a:t>
            </a:r>
            <a:r>
              <a:rPr lang="zh-CN" altLang="en-US" dirty="0"/>
              <a:t>实现</a:t>
            </a:r>
            <a:endParaRPr lang="en-US" altLang="zh-CN" dirty="0"/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zh-CN" altLang="zh-CN" dirty="0"/>
              <a:t>压缩格式可以利用但是需要通过</a:t>
            </a:r>
            <a:r>
              <a:rPr lang="en-US" altLang="zh-CN" dirty="0"/>
              <a:t>I/O</a:t>
            </a:r>
            <a:r>
              <a:rPr lang="zh-CN" altLang="zh-CN" dirty="0"/>
              <a:t>换</a:t>
            </a:r>
            <a:r>
              <a:rPr lang="en-US" altLang="zh-CN" dirty="0" err="1"/>
              <a:t>cpu</a:t>
            </a:r>
            <a:r>
              <a:rPr lang="zh-CN" altLang="zh-CN" dirty="0"/>
              <a:t>缓存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3C5969-85FB-4A55-85E1-E11B70DB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94" y="2736322"/>
            <a:ext cx="4787347" cy="40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0A55D-D50E-403F-BCA3-812B12944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A760D9-C555-4C94-8B90-3FC86F1FA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透过接口使用</a:t>
            </a:r>
            <a:r>
              <a:rPr lang="en-US" altLang="zh-CN" dirty="0"/>
              <a:t>spark</a:t>
            </a:r>
            <a:r>
              <a:rPr lang="zh-CN" altLang="zh-CN" dirty="0"/>
              <a:t>的投影算子</a:t>
            </a:r>
            <a:r>
              <a:rPr lang="zh-CN" altLang="en-US" dirty="0"/>
              <a:t>实现取子集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8B6285C-0778-496F-9C3F-C3D484BC9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333" y="2818077"/>
            <a:ext cx="588645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716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382</Words>
  <Application>Microsoft Office PowerPoint</Application>
  <PresentationFormat>宽屏</PresentationFormat>
  <Paragraphs>40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零成本Arrow-Spark连接层</vt:lpstr>
      <vt:lpstr>摘要</vt:lpstr>
      <vt:lpstr>实现</vt:lpstr>
      <vt:lpstr>实验结果</vt:lpstr>
      <vt:lpstr>实验结果</vt:lpstr>
      <vt:lpstr>实验结果</vt:lpstr>
      <vt:lpstr>实验结果</vt:lpstr>
      <vt:lpstr>实验结果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Yomi Natsusaki</dc:creator>
  <cp:lastModifiedBy>Yomi Natsusaki</cp:lastModifiedBy>
  <cp:revision>4</cp:revision>
  <dcterms:created xsi:type="dcterms:W3CDTF">2024-06-20T16:12:58Z</dcterms:created>
  <dcterms:modified xsi:type="dcterms:W3CDTF">2024-06-20T16:36:29Z</dcterms:modified>
</cp:coreProperties>
</file>