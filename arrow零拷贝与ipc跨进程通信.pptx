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7" r:id="rId4"/>
    <p:sldId id="261" r:id="rId5"/>
    <p:sldId id="263" r:id="rId6"/>
    <p:sldId id="260" r:id="rId7"/>
    <p:sldId id="265" r:id="rId8"/>
    <p:sldId id="266" r:id="rId9"/>
    <p:sldId id="268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173307-D534-48DE-B21D-09F4E116D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80D89B3-412E-49B4-A75F-D69B21189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195EE1-44F2-4CBD-AB2E-35007F3A1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1149-1816-44F6-B9F9-FD4A7D2C02D4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AE618F-ACD0-4A5D-A756-E59743C1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5D2E65-B5AA-40C4-904E-656C14C96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C2876-F357-4D2F-81F9-DB38B9B73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2460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2CF02A-0620-4C6D-BCB2-4B501A08E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4023EC-E0B9-4892-94EB-A6F3CA386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7C87FB8-7133-4458-872E-E07ED3124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1149-1816-44F6-B9F9-FD4A7D2C02D4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695CC6-554A-4BD5-BDC3-E9E841898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5C44F2-19B2-4433-9AFB-7B40164D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C2876-F357-4D2F-81F9-DB38B9B73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6841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503456-0BD5-403B-BEC0-1E5077AFD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46BB24E-BA2F-4D6B-8EEB-614D9570D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1ECE2F-F803-4A8B-A551-17C076F6D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1149-1816-44F6-B9F9-FD4A7D2C02D4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DA35C2-EC18-44A0-82E3-76344AECC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8DC165-2AE3-4632-B688-F4FD7E3D9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C2876-F357-4D2F-81F9-DB38B9B73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4441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6C8B87-C678-4B8A-BB68-26C0DF1364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5E9AD6-1378-4F3A-BE51-28591D9C10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9D1ABFF-50D4-4FE8-8181-85B44CB538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C98C810-A877-477F-8419-86B60F3A4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1149-1816-44F6-B9F9-FD4A7D2C02D4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C7E0A7-237E-4B90-9D18-1E937C619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9E1590-C3EC-4C14-8B94-54FFC59F8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C2876-F357-4D2F-81F9-DB38B9B73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293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52ECD8-6E6E-4E62-9459-D09259C01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B4F66A-F799-4B89-95B3-6B5CAC891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44F1645-0816-40A0-A928-CA628CAA3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5E841F7-1614-41E7-A58E-3300C2549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1A0421F-BF4B-46BD-BA5E-745AC28506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8DB4765-A91C-4FF9-A135-D8CDE3CA3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1149-1816-44F6-B9F9-FD4A7D2C02D4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3A7E102-8592-496A-9D2A-E8D0BA22D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988AF4A-21D1-4B0A-BF1F-D4667F4C7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C2876-F357-4D2F-81F9-DB38B9B73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935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C3653E-5D1F-4C93-9A75-1EECA49C3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843052B-07F1-495B-8BC8-48F3E6C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1149-1816-44F6-B9F9-FD4A7D2C02D4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3AEFD13-93B2-40F1-B377-C9E74C93B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3FCB44F-8421-49BE-ACF8-BF8B77B07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C2876-F357-4D2F-81F9-DB38B9B73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004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D9F9DDA-9AEC-4D56-BFAB-9A7E9A071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1149-1816-44F6-B9F9-FD4A7D2C02D4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0E37CDA-0A89-4BDB-A532-05947F23C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1F0C15-5884-48A6-8CFD-28721877F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C2876-F357-4D2F-81F9-DB38B9B73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772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D79F17-41BB-485D-97C6-959BC4079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2EF00F-BC3C-4FF9-AE72-4DCDE7964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BE5B3A-C808-4856-A450-FECAAE8F4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D113D50-6ADA-4AEE-9D62-7AFF86AE4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1149-1816-44F6-B9F9-FD4A7D2C02D4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64286A4-0857-425A-B466-C1576BD17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4A331EA-1E2A-4C92-85EC-4742CCB29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C2876-F357-4D2F-81F9-DB38B9B73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1822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9A2412-D50B-4D92-988B-9207A36F8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052D9A8-48D4-4F4F-ADA2-E34427EF80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344AE6-739D-4166-B62E-EF3A5C1E5F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3C18AC-6960-4BD0-BE01-14A6E8D09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1149-1816-44F6-B9F9-FD4A7D2C02D4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B83B86-EB72-4259-8F94-13A1E0C94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E67DA3-48B7-47D2-B1DC-734CE9AE5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C2876-F357-4D2F-81F9-DB38B9B73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988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172EB8-B2C9-4DDF-8B05-A8691D07C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8950BE-8398-409A-9781-782FF5DDAE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0C7AFCE-5CF6-4753-84BC-D6AD00E44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1149-1816-44F6-B9F9-FD4A7D2C02D4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7D65FB-47B2-4EA9-B00D-BC790206E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6242D1-5CBA-423B-AB6C-C085E1D8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C2876-F357-4D2F-81F9-DB38B9B73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9795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2E99C6D-9658-4333-BDC7-CF5F31C25E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0053A2D-35B2-4340-A86D-1EC68D598A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6F122B-7B93-460D-B5FA-3E6A4A8AA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721149-1816-44F6-B9F9-FD4A7D2C02D4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4A1F00-0D34-4BE7-A465-26DE90402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CF7648-1531-472B-B3EA-4B6A199F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C2876-F357-4D2F-81F9-DB38B9B73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7899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EC53032-3ACF-42DE-8C3B-BA83BB173E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E8A225-A013-4226-88D5-CD6F3333C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7113F6-CCE9-4A83-AD4C-CAA047D11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721149-1816-44F6-B9F9-FD4A7D2C02D4}" type="datetimeFigureOut">
              <a:rPr lang="zh-CN" altLang="en-US" smtClean="0"/>
              <a:t>2024/6/28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866C9E-6BAF-43B3-9D42-86D9BAA9AD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6CAE94-28AF-41DD-82B6-6D20C0A845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C2876-F357-4D2F-81F9-DB38B9B733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551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3D3823-DB45-489B-92C2-B0839CB131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5400" dirty="0"/>
              <a:t>arrow</a:t>
            </a:r>
            <a:r>
              <a:rPr lang="zh-CN" altLang="en-US" sz="5400" dirty="0"/>
              <a:t>零拷贝与</a:t>
            </a:r>
            <a:r>
              <a:rPr lang="en-US" altLang="zh-CN" sz="5400" dirty="0" err="1"/>
              <a:t>ipc</a:t>
            </a:r>
            <a:r>
              <a:rPr lang="zh-CN" altLang="en-US" sz="5400" dirty="0"/>
              <a:t>跨进程通信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BC22E19-87CD-442E-90A1-3F471DC976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755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9157FB-6FDE-40D1-BF63-584712108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内存映射回顾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FE7F5A-97D0-4307-B6EB-7BDB3626C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261600" cy="4351338"/>
          </a:xfrm>
        </p:spPr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进程内的内存映射</a:t>
            </a:r>
            <a:endParaRPr lang="en-US" altLang="zh-CN" dirty="0"/>
          </a:p>
          <a:p>
            <a:r>
              <a:rPr lang="en-US" altLang="zh-CN" dirty="0"/>
              <a:t>Arrow</a:t>
            </a:r>
            <a:r>
              <a:rPr lang="zh-CN" altLang="en-US" dirty="0"/>
              <a:t>官方提供的只有</a:t>
            </a:r>
            <a:r>
              <a:rPr lang="en-US" altLang="zh-CN" dirty="0"/>
              <a:t>python</a:t>
            </a:r>
            <a:r>
              <a:rPr lang="zh-CN" altLang="en-US" dirty="0"/>
              <a:t>端的</a:t>
            </a:r>
            <a:r>
              <a:rPr lang="en-US" altLang="zh-CN" dirty="0"/>
              <a:t>arrow</a:t>
            </a:r>
            <a:r>
              <a:rPr lang="zh-CN" altLang="en-US" dirty="0"/>
              <a:t>读写支持内存映射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0406B46-F9FB-40E8-BAF6-C242ECE9EB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976827"/>
            <a:ext cx="5785417" cy="174413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224A147-89B5-42B2-A4B9-DD34C6EC0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916" y="4695523"/>
            <a:ext cx="3467584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5481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70D2DF-D15D-4D9F-BC1D-38057EA7A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zh-CN" altLang="en-US" dirty="0"/>
              <a:t>目前的业务需求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4D77A6-86C0-44AB-B6B4-70F1C9C775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37075"/>
            <a:ext cx="10515600" cy="4351338"/>
          </a:xfrm>
        </p:spPr>
        <p:txBody>
          <a:bodyPr/>
          <a:lstStyle/>
          <a:p>
            <a:r>
              <a:rPr lang="zh-CN" altLang="en-US" dirty="0"/>
              <a:t>针对两个问题</a:t>
            </a:r>
            <a:endParaRPr lang="en-US" altLang="zh-CN" dirty="0"/>
          </a:p>
          <a:p>
            <a:pPr lvl="1"/>
            <a:r>
              <a:rPr lang="zh-CN" altLang="en-US" dirty="0"/>
              <a:t>直接流式接收</a:t>
            </a:r>
            <a:r>
              <a:rPr lang="en-US" altLang="zh-CN" dirty="0"/>
              <a:t>http</a:t>
            </a:r>
            <a:r>
              <a:rPr lang="zh-CN" altLang="en-US" dirty="0"/>
              <a:t>请求，分批转为</a:t>
            </a:r>
            <a:r>
              <a:rPr lang="en-US" altLang="zh-CN" dirty="0"/>
              <a:t>arrow</a:t>
            </a:r>
          </a:p>
          <a:p>
            <a:pPr lvl="1"/>
            <a:r>
              <a:rPr lang="en-US" altLang="zh-CN" dirty="0"/>
              <a:t>Csv</a:t>
            </a:r>
            <a:r>
              <a:rPr lang="zh-CN" altLang="en-US" dirty="0"/>
              <a:t>落盘后，分块在内存中实现</a:t>
            </a:r>
            <a:r>
              <a:rPr lang="en-US" altLang="zh-CN" dirty="0"/>
              <a:t>arrow</a:t>
            </a:r>
            <a:r>
              <a:rPr lang="zh-CN" altLang="en-US" dirty="0"/>
              <a:t>转换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均可行！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143FA63-6ED4-4EBB-BB56-FD72059C51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75" y="1027113"/>
            <a:ext cx="5343525" cy="3381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038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9D5643-5631-41D1-9CC8-12CE91439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进展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B4BB3A-0993-439C-9F2B-766FBB0F9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Java</a:t>
            </a:r>
            <a:r>
              <a:rPr lang="zh-CN" altLang="en-US" dirty="0"/>
              <a:t>内存映射</a:t>
            </a:r>
            <a:endParaRPr lang="en-US" altLang="zh-CN" dirty="0"/>
          </a:p>
          <a:p>
            <a:r>
              <a:rPr lang="en-US" altLang="zh-CN" dirty="0"/>
              <a:t>Java/</a:t>
            </a:r>
            <a:r>
              <a:rPr lang="en-US" altLang="zh-CN" dirty="0" err="1"/>
              <a:t>scala</a:t>
            </a:r>
            <a:r>
              <a:rPr lang="zh-CN" altLang="en-US" dirty="0"/>
              <a:t>和</a:t>
            </a:r>
            <a:r>
              <a:rPr lang="en-US" altLang="zh-CN" dirty="0"/>
              <a:t>python</a:t>
            </a:r>
            <a:r>
              <a:rPr lang="zh-CN" altLang="en-US" dirty="0"/>
              <a:t>的</a:t>
            </a:r>
            <a:r>
              <a:rPr lang="en-US" altLang="zh-CN" dirty="0" err="1"/>
              <a:t>Ipc</a:t>
            </a:r>
            <a:r>
              <a:rPr lang="zh-CN" altLang="en-US" dirty="0"/>
              <a:t>通信</a:t>
            </a:r>
            <a:endParaRPr lang="en-US" altLang="zh-CN" dirty="0"/>
          </a:p>
          <a:p>
            <a:r>
              <a:rPr lang="en-US" altLang="zh-CN" dirty="0"/>
              <a:t>Csv</a:t>
            </a:r>
            <a:r>
              <a:rPr lang="zh-CN" altLang="en-US" dirty="0"/>
              <a:t>分块读取并转为</a:t>
            </a:r>
            <a:r>
              <a:rPr lang="en-US" altLang="zh-CN" dirty="0"/>
              <a:t>arrow</a:t>
            </a:r>
            <a:r>
              <a:rPr lang="zh-CN" altLang="en-US" dirty="0"/>
              <a:t>格式</a:t>
            </a:r>
            <a:endParaRPr lang="en-US" altLang="zh-CN" dirty="0"/>
          </a:p>
          <a:p>
            <a:r>
              <a:rPr lang="en-US" altLang="zh-CN" dirty="0"/>
              <a:t>Http</a:t>
            </a:r>
            <a:r>
              <a:rPr lang="zh-CN" altLang="en-US" dirty="0"/>
              <a:t>请求在内存中流式转换为</a:t>
            </a:r>
            <a:r>
              <a:rPr lang="en-US" altLang="zh-CN" dirty="0"/>
              <a:t>arrow </a:t>
            </a:r>
            <a:r>
              <a:rPr lang="en-US" altLang="zh-CN" dirty="0" err="1"/>
              <a:t>ipc</a:t>
            </a:r>
            <a:r>
              <a:rPr lang="zh-CN" altLang="en-US" dirty="0"/>
              <a:t>格式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132519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26F3FA-F4A1-4210-8542-36E8261B3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Spark</a:t>
            </a:r>
            <a:r>
              <a:rPr lang="zh-CN" altLang="en-US" dirty="0"/>
              <a:t>内（</a:t>
            </a:r>
            <a:r>
              <a:rPr lang="en-US" altLang="zh-CN" dirty="0"/>
              <a:t>JVM</a:t>
            </a:r>
            <a:r>
              <a:rPr lang="zh-CN" altLang="en-US" dirty="0"/>
              <a:t>）的内存映射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854084-5925-4F43-BCAD-ACDA4F655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1447"/>
            <a:ext cx="10515600" cy="5710620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java</a:t>
            </a:r>
            <a:r>
              <a:rPr lang="zh-CN" altLang="en-US" sz="2000" dirty="0"/>
              <a:t>可以调用原生的</a:t>
            </a:r>
            <a:r>
              <a:rPr lang="en-US" altLang="zh-CN" sz="2000" dirty="0" err="1"/>
              <a:t>java.nio.MappedByteBuffer</a:t>
            </a:r>
            <a:r>
              <a:rPr lang="zh-CN" altLang="en-US" sz="2000" dirty="0"/>
              <a:t>实现</a:t>
            </a:r>
            <a:r>
              <a:rPr lang="en-US" altLang="zh-CN" sz="2000" dirty="0"/>
              <a:t>arrow</a:t>
            </a:r>
            <a:r>
              <a:rPr lang="zh-CN" altLang="en-US" sz="2000" dirty="0"/>
              <a:t>的内存映射</a:t>
            </a:r>
            <a:endParaRPr lang="en-US" altLang="zh-CN" sz="2000" dirty="0"/>
          </a:p>
          <a:p>
            <a:r>
              <a:rPr lang="en-US" altLang="zh-CN" sz="2000" dirty="0"/>
              <a:t>Arrow</a:t>
            </a:r>
            <a:r>
              <a:rPr lang="zh-CN" altLang="en-US" sz="2000" dirty="0"/>
              <a:t>直接从</a:t>
            </a:r>
            <a:r>
              <a:rPr lang="en-US" altLang="zh-CN" sz="2000" dirty="0" err="1"/>
              <a:t>MappedByteBuffer</a:t>
            </a:r>
            <a:r>
              <a:rPr lang="zh-CN" altLang="en-US" sz="2000" dirty="0"/>
              <a:t>中读取映射的</a:t>
            </a:r>
            <a:r>
              <a:rPr lang="en-US" altLang="zh-CN" sz="2000" dirty="0"/>
              <a:t>arrow</a:t>
            </a:r>
            <a:r>
              <a:rPr lang="zh-CN" altLang="en-US" sz="2000" dirty="0"/>
              <a:t>（</a:t>
            </a:r>
            <a:r>
              <a:rPr lang="en-US" altLang="zh-CN" sz="2000" dirty="0"/>
              <a:t>arrow</a:t>
            </a:r>
            <a:r>
              <a:rPr lang="zh-CN" altLang="en-US" sz="2000" dirty="0"/>
              <a:t>的</a:t>
            </a:r>
            <a:r>
              <a:rPr lang="en-US" altLang="zh-CN" sz="2000" dirty="0"/>
              <a:t>java</a:t>
            </a:r>
            <a:r>
              <a:rPr lang="zh-CN" altLang="en-US" sz="2000" dirty="0"/>
              <a:t>实现提供了从</a:t>
            </a:r>
            <a:r>
              <a:rPr lang="en-US" altLang="zh-CN" sz="2000" dirty="0"/>
              <a:t>buffer</a:t>
            </a:r>
            <a:r>
              <a:rPr lang="zh-CN" altLang="en-US" sz="2000" dirty="0"/>
              <a:t>中读取</a:t>
            </a:r>
            <a:r>
              <a:rPr lang="en-US" altLang="zh-CN" sz="2000" dirty="0"/>
              <a:t>arrow</a:t>
            </a:r>
            <a:r>
              <a:rPr lang="zh-CN" altLang="en-US" sz="2000" dirty="0"/>
              <a:t>文件的接口）</a:t>
            </a:r>
            <a:endParaRPr lang="en-US" altLang="zh-CN" sz="2000" dirty="0"/>
          </a:p>
          <a:p>
            <a:r>
              <a:rPr lang="zh-CN" altLang="en-US" sz="2000" dirty="0"/>
              <a:t>不过需要实现转换</a:t>
            </a:r>
            <a:r>
              <a:rPr lang="en-US" altLang="zh-CN" sz="2000" dirty="0"/>
              <a:t>java</a:t>
            </a:r>
            <a:r>
              <a:rPr lang="zh-CN" altLang="en-US" sz="2000" dirty="0"/>
              <a:t>共享内存格式为</a:t>
            </a:r>
            <a:r>
              <a:rPr lang="en-US" altLang="zh-CN" sz="2000" dirty="0" err="1"/>
              <a:t>SeekableReadChannel</a:t>
            </a:r>
            <a:r>
              <a:rPr lang="zh-CN" altLang="en-US" sz="2000" dirty="0"/>
              <a:t>的接口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该内存映射最多允许一次分配</a:t>
            </a:r>
            <a:r>
              <a:rPr lang="en-US" altLang="zh-CN" sz="2000" dirty="0"/>
              <a:t>2G</a:t>
            </a:r>
          </a:p>
          <a:p>
            <a:endParaRPr lang="en-US" altLang="zh-CN" sz="2000" dirty="0"/>
          </a:p>
          <a:p>
            <a:pPr marL="0" indent="0">
              <a:buNone/>
            </a:pPr>
            <a:endParaRPr lang="en-US" altLang="zh-CN" sz="2000" dirty="0"/>
          </a:p>
          <a:p>
            <a:r>
              <a:rPr lang="zh-CN" altLang="en-US" sz="2000" dirty="0"/>
              <a:t>所以对于大数据集其实依然需要做分块</a:t>
            </a:r>
            <a:endParaRPr lang="en-US" altLang="zh-CN" sz="2000" dirty="0"/>
          </a:p>
          <a:p>
            <a:endParaRPr lang="en-US" altLang="zh-CN" sz="2000" dirty="0"/>
          </a:p>
          <a:p>
            <a:endParaRPr lang="zh-CN" altLang="en-US" dirty="0"/>
          </a:p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AA57572-BB8C-4AB8-AB02-39EA754249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9402" y="5341851"/>
            <a:ext cx="7729068" cy="87334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D0B37A7-CC37-4BAC-9842-0B0496832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402" y="3058253"/>
            <a:ext cx="8216596" cy="171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767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FB60F6-23D4-4EF4-B412-4C71329A0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ARROW+socket</a:t>
            </a:r>
            <a:r>
              <a:rPr lang="en-US" altLang="zh-CN" dirty="0"/>
              <a:t> IPC</a:t>
            </a:r>
            <a:r>
              <a:rPr lang="zh-CN" altLang="en-US" dirty="0"/>
              <a:t>通信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B33A51-09FA-4AD9-8548-032329B7A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socket</a:t>
            </a:r>
            <a:r>
              <a:rPr lang="zh-CN" altLang="en-US" dirty="0"/>
              <a:t>建立同一主机中的进程间通信</a:t>
            </a:r>
            <a:endParaRPr lang="en-US" altLang="zh-CN" dirty="0"/>
          </a:p>
          <a:p>
            <a:pPr lvl="1"/>
            <a:r>
              <a:rPr lang="zh-CN" altLang="en-US" dirty="0"/>
              <a:t>服务端：</a:t>
            </a:r>
            <a:r>
              <a:rPr lang="en-US" altLang="zh-CN" dirty="0"/>
              <a:t>Java</a:t>
            </a:r>
          </a:p>
          <a:p>
            <a:pPr lvl="2"/>
            <a:r>
              <a:rPr lang="zh-CN" altLang="en-US" dirty="0"/>
              <a:t>明确并开始监听端口</a:t>
            </a:r>
            <a:endParaRPr lang="en-US" altLang="zh-CN" dirty="0"/>
          </a:p>
          <a:p>
            <a:pPr lvl="2"/>
            <a:r>
              <a:rPr lang="zh-CN" altLang="en-US" dirty="0"/>
              <a:t>为了使用内存映射，创建</a:t>
            </a:r>
            <a:r>
              <a:rPr lang="en-US" altLang="zh-CN" dirty="0"/>
              <a:t>file writer</a:t>
            </a:r>
            <a:r>
              <a:rPr lang="zh-CN" altLang="en-US" dirty="0"/>
              <a:t>而不是</a:t>
            </a:r>
            <a:r>
              <a:rPr lang="en-US" altLang="zh-CN" dirty="0"/>
              <a:t>stream writer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2E8768F-E245-4D00-97A0-32F43BBF2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1518" y="3429000"/>
            <a:ext cx="6148959" cy="336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1074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FB60F6-23D4-4EF4-B412-4C71329A0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ARROW+socket</a:t>
            </a:r>
            <a:r>
              <a:rPr lang="en-US" altLang="zh-CN" dirty="0"/>
              <a:t> IPC</a:t>
            </a:r>
            <a:r>
              <a:rPr lang="zh-CN" altLang="en-US" dirty="0"/>
              <a:t>通信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B33A51-09FA-4AD9-8548-032329B7A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socket</a:t>
            </a:r>
            <a:r>
              <a:rPr lang="zh-CN" altLang="en-US" dirty="0"/>
              <a:t>建立同一主机中的进程间通信</a:t>
            </a:r>
            <a:endParaRPr lang="en-US" altLang="zh-CN" dirty="0"/>
          </a:p>
          <a:p>
            <a:pPr lvl="1"/>
            <a:r>
              <a:rPr lang="zh-CN" altLang="en-US" dirty="0"/>
              <a:t>客户端：</a:t>
            </a:r>
            <a:r>
              <a:rPr lang="en-US" altLang="zh-CN" dirty="0"/>
              <a:t>python</a:t>
            </a:r>
          </a:p>
          <a:p>
            <a:pPr lvl="2"/>
            <a:r>
              <a:rPr lang="zh-CN" altLang="en-US" dirty="0"/>
              <a:t>先将</a:t>
            </a:r>
            <a:r>
              <a:rPr lang="en-US" altLang="zh-CN" dirty="0"/>
              <a:t>java</a:t>
            </a:r>
            <a:r>
              <a:rPr lang="zh-CN" altLang="en-US" dirty="0"/>
              <a:t>写入的</a:t>
            </a:r>
            <a:r>
              <a:rPr lang="en-US" altLang="zh-CN" dirty="0"/>
              <a:t>file</a:t>
            </a:r>
            <a:r>
              <a:rPr lang="zh-CN" altLang="en-US" dirty="0"/>
              <a:t>读入缓存</a:t>
            </a:r>
            <a:endParaRPr lang="en-US" altLang="zh-CN" dirty="0"/>
          </a:p>
          <a:p>
            <a:pPr lvl="2"/>
            <a:r>
              <a:rPr lang="en-US" altLang="zh-CN" dirty="0"/>
              <a:t>Arrow</a:t>
            </a:r>
            <a:r>
              <a:rPr lang="zh-CN" altLang="en-US" dirty="0"/>
              <a:t>从</a:t>
            </a:r>
            <a:r>
              <a:rPr lang="en-US" altLang="zh-CN" dirty="0"/>
              <a:t>buffer</a:t>
            </a:r>
            <a:r>
              <a:rPr lang="zh-CN" altLang="en-US" dirty="0"/>
              <a:t>中读取</a:t>
            </a:r>
            <a:endParaRPr lang="en-US" altLang="zh-CN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7BF8117-D995-4873-947F-5AF7FA8D2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153" y="3429000"/>
            <a:ext cx="5906647" cy="392928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AB29F2B-CAB3-43D0-A6C4-FE88A6758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800" y="3429000"/>
            <a:ext cx="5375955" cy="127999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3624516C-EE48-45FD-A151-44A9AE1B2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9228" y="5140626"/>
            <a:ext cx="2815195" cy="130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77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45EC88-F4FF-4F31-8155-7FD5B2809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CSV</a:t>
            </a:r>
            <a:r>
              <a:rPr lang="zh-CN" altLang="en-US" dirty="0"/>
              <a:t>分块转为</a:t>
            </a:r>
            <a:r>
              <a:rPr lang="en-US" altLang="zh-CN" dirty="0"/>
              <a:t>ARROW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A46462-9202-4E0A-B5DA-DEDEBD1BC6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360" y="901931"/>
            <a:ext cx="5658640" cy="4351338"/>
          </a:xfrm>
        </p:spPr>
        <p:txBody>
          <a:bodyPr/>
          <a:lstStyle/>
          <a:p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 err="1"/>
              <a:t>datasetFactory+scanner</a:t>
            </a:r>
            <a:r>
              <a:rPr lang="zh-CN" altLang="en-US" dirty="0"/>
              <a:t>实现</a:t>
            </a:r>
            <a:endParaRPr lang="en-US" altLang="zh-CN" dirty="0"/>
          </a:p>
          <a:p>
            <a:pPr lvl="2"/>
            <a:r>
              <a:rPr lang="zh-CN" altLang="en-US" dirty="0"/>
              <a:t>可以直接读取</a:t>
            </a:r>
            <a:r>
              <a:rPr lang="en-US" altLang="zh-CN" dirty="0" err="1"/>
              <a:t>gz</a:t>
            </a:r>
            <a:r>
              <a:rPr lang="zh-CN" altLang="en-US" dirty="0"/>
              <a:t>压缩的</a:t>
            </a:r>
            <a:r>
              <a:rPr lang="en-US" altLang="zh-CN" dirty="0"/>
              <a:t>csv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2"/>
            <a:r>
              <a:rPr lang="zh-CN" altLang="en-US" dirty="0"/>
              <a:t>还支持</a:t>
            </a:r>
            <a:r>
              <a:rPr lang="en-US" altLang="zh-CN" dirty="0"/>
              <a:t>parquet</a:t>
            </a:r>
            <a:r>
              <a:rPr lang="zh-CN" altLang="en-US" dirty="0"/>
              <a:t>、</a:t>
            </a:r>
            <a:r>
              <a:rPr lang="en-US" altLang="zh-CN" dirty="0"/>
              <a:t>orc</a:t>
            </a:r>
            <a:r>
              <a:rPr lang="zh-CN" altLang="en-US" dirty="0"/>
              <a:t>等</a:t>
            </a:r>
            <a:endParaRPr lang="en-US" altLang="zh-CN" dirty="0"/>
          </a:p>
          <a:p>
            <a:pPr lvl="2"/>
            <a:r>
              <a:rPr lang="en-US" altLang="zh-CN" dirty="0"/>
              <a:t>Scanner</a:t>
            </a:r>
            <a:r>
              <a:rPr lang="zh-CN" altLang="en-US" dirty="0"/>
              <a:t>可设置每次最多读取的行数</a:t>
            </a:r>
            <a:endParaRPr lang="en-US" altLang="zh-CN" dirty="0"/>
          </a:p>
          <a:p>
            <a:pPr lvl="2"/>
            <a:r>
              <a:rPr lang="en-US" altLang="zh-CN" dirty="0"/>
              <a:t>Reader</a:t>
            </a:r>
            <a:r>
              <a:rPr lang="zh-CN" altLang="en-US" dirty="0"/>
              <a:t>每次读取一个</a:t>
            </a:r>
            <a:r>
              <a:rPr lang="en-US" altLang="zh-CN" dirty="0"/>
              <a:t>batch</a:t>
            </a:r>
            <a:r>
              <a:rPr lang="zh-CN" altLang="en-US" dirty="0"/>
              <a:t>的行数到</a:t>
            </a:r>
            <a:r>
              <a:rPr lang="en-US" altLang="zh-CN" dirty="0"/>
              <a:t>arrow</a:t>
            </a:r>
            <a:r>
              <a:rPr lang="zh-CN" altLang="en-US" dirty="0"/>
              <a:t>的</a:t>
            </a:r>
            <a:r>
              <a:rPr lang="en-US" altLang="zh-CN" dirty="0" err="1"/>
              <a:t>ipc</a:t>
            </a:r>
            <a:r>
              <a:rPr lang="zh-CN" altLang="en-US" dirty="0"/>
              <a:t> </a:t>
            </a:r>
            <a:r>
              <a:rPr lang="en-US" altLang="zh-CN" dirty="0"/>
              <a:t>format</a:t>
            </a:r>
            <a:r>
              <a:rPr lang="zh-CN" altLang="en-US" dirty="0"/>
              <a:t>中</a:t>
            </a:r>
            <a:endParaRPr lang="en-US" altLang="zh-CN" dirty="0"/>
          </a:p>
          <a:p>
            <a:pPr lvl="2"/>
            <a:r>
              <a:rPr lang="zh-CN" altLang="en-US" dirty="0"/>
              <a:t>实际每次最多允许读取</a:t>
            </a:r>
            <a:r>
              <a:rPr lang="en-US" altLang="zh-CN" dirty="0"/>
              <a:t>1MB</a:t>
            </a:r>
            <a:r>
              <a:rPr lang="zh-CN" altLang="en-US" dirty="0"/>
              <a:t>左右大小的行数到内存中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暂不清楚如何修改该约束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/>
              <a:t>测试结果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4C6671B-B220-470E-A4DE-A4FD56DC85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214" y="4915521"/>
            <a:ext cx="3099466" cy="311512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FFE4FBD-CB5B-4F81-969D-07199C4F8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7850" y="204258"/>
            <a:ext cx="5026028" cy="3224742"/>
          </a:xfrm>
          <a:prstGeom prst="rect">
            <a:avLst/>
          </a:prstGeom>
        </p:spPr>
      </p:pic>
      <p:graphicFrame>
        <p:nvGraphicFramePr>
          <p:cNvPr id="12" name="表格 12">
            <a:extLst>
              <a:ext uri="{FF2B5EF4-FFF2-40B4-BE49-F238E27FC236}">
                <a16:creationId xmlns:a16="http://schemas.microsoft.com/office/drawing/2014/main" id="{63B08DF5-8907-4CAF-B6E4-6208B141D8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0997656"/>
              </p:ext>
            </p:extLst>
          </p:nvPr>
        </p:nvGraphicFramePr>
        <p:xfrm>
          <a:off x="167214" y="4915521"/>
          <a:ext cx="8128000" cy="73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6654607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91716371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8744426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4016341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zh-CN" altLang="en-US" dirty="0"/>
                        <a:t>文件原大小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实际大小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分块读取时间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读取速度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323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13.2G(.</a:t>
                      </a:r>
                      <a:r>
                        <a:rPr lang="en-US" altLang="zh-CN" dirty="0" err="1"/>
                        <a:t>gz</a:t>
                      </a:r>
                      <a:r>
                        <a:rPr lang="en-US" altLang="zh-CN" dirty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38.6G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93.478s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423MB/s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4076669"/>
                  </a:ext>
                </a:extLst>
              </a:tr>
            </a:tbl>
          </a:graphicData>
        </a:graphic>
      </p:graphicFrame>
      <p:pic>
        <p:nvPicPr>
          <p:cNvPr id="18" name="图片 17">
            <a:extLst>
              <a:ext uri="{FF2B5EF4-FFF2-40B4-BE49-F238E27FC236}">
                <a16:creationId xmlns:a16="http://schemas.microsoft.com/office/drawing/2014/main" id="{C588F3C7-246B-499F-9242-406F0C3E3E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1799" y="5652121"/>
            <a:ext cx="3825951" cy="118365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9C27B8C1-1800-4EB6-8727-40A3D8E9F7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5214" y="3581400"/>
            <a:ext cx="3258005" cy="165758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D446882-7764-44F9-BC40-E0B221C260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6680" y="3731867"/>
            <a:ext cx="3153331" cy="222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276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4C2D4-6190-44EA-B5DD-A5752C86EB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http2arrow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CD2511-1EF1-4EB7-A000-FD4AAC03C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Python</a:t>
            </a:r>
            <a:r>
              <a:rPr lang="zh-CN" altLang="en-US" dirty="0"/>
              <a:t>可行，</a:t>
            </a:r>
            <a:r>
              <a:rPr lang="en-US" altLang="zh-CN" dirty="0"/>
              <a:t>java</a:t>
            </a:r>
            <a:r>
              <a:rPr lang="zh-CN" altLang="en-US" dirty="0"/>
              <a:t>研究中</a:t>
            </a:r>
            <a:endParaRPr lang="en-US" altLang="zh-CN" dirty="0"/>
          </a:p>
          <a:p>
            <a:pPr lvl="1"/>
            <a:r>
              <a:rPr lang="en-US" altLang="zh-CN" dirty="0" err="1"/>
              <a:t>requests.get</a:t>
            </a:r>
            <a:r>
              <a:rPr lang="en-US" altLang="zh-CN" dirty="0"/>
              <a:t>(</a:t>
            </a:r>
            <a:r>
              <a:rPr lang="en-US" altLang="zh-CN" dirty="0" err="1"/>
              <a:t>url</a:t>
            </a:r>
            <a:r>
              <a:rPr lang="en-US" altLang="zh-CN" dirty="0"/>
              <a:t>, stream=True)</a:t>
            </a:r>
            <a:r>
              <a:rPr lang="zh-CN" altLang="en-US" dirty="0"/>
              <a:t>开启流式请求</a:t>
            </a:r>
            <a:endParaRPr lang="en-US" altLang="zh-CN" dirty="0"/>
          </a:p>
          <a:p>
            <a:pPr lvl="1"/>
            <a:r>
              <a:rPr lang="en-US" altLang="zh-CN" dirty="0"/>
              <a:t>for chunk in </a:t>
            </a:r>
            <a:r>
              <a:rPr lang="en-US" altLang="zh-CN" dirty="0" err="1"/>
              <a:t>response.iter_lines</a:t>
            </a:r>
            <a:r>
              <a:rPr lang="en-US" altLang="zh-CN" dirty="0"/>
              <a:t>(</a:t>
            </a:r>
            <a:r>
              <a:rPr lang="en-US" altLang="zh-CN" dirty="0" err="1"/>
              <a:t>chunk_size</a:t>
            </a:r>
            <a:r>
              <a:rPr lang="en-US" altLang="zh-CN" dirty="0"/>
              <a:t>=2048, </a:t>
            </a:r>
            <a:r>
              <a:rPr lang="en-US" altLang="zh-CN" dirty="0" err="1"/>
              <a:t>decode_unicode</a:t>
            </a:r>
            <a:r>
              <a:rPr lang="en-US" altLang="zh-CN" dirty="0"/>
              <a:t>=True):</a:t>
            </a:r>
          </a:p>
          <a:p>
            <a:pPr marL="457200" lvl="1" indent="0">
              <a:buNone/>
            </a:pPr>
            <a:r>
              <a:rPr lang="en-US" altLang="zh-CN" dirty="0"/>
              <a:t>	...</a:t>
            </a:r>
          </a:p>
          <a:p>
            <a:pPr marL="457200" lvl="1" indent="0">
              <a:buNone/>
            </a:pPr>
            <a:r>
              <a:rPr lang="en-US" altLang="zh-CN" dirty="0"/>
              <a:t>	...</a:t>
            </a:r>
          </a:p>
          <a:p>
            <a:pPr lvl="1"/>
            <a:r>
              <a:rPr lang="en-US" altLang="zh-CN" dirty="0" err="1"/>
              <a:t>Chunk_size</a:t>
            </a:r>
            <a:r>
              <a:rPr lang="zh-CN" altLang="en-US" dirty="0"/>
              <a:t>表示每次向内存读取的大小直到遇到第一个‘</a:t>
            </a:r>
            <a:r>
              <a:rPr lang="en-US" altLang="zh-CN" dirty="0"/>
              <a:t>/n</a:t>
            </a:r>
            <a:r>
              <a:rPr lang="zh-CN" altLang="en-US" dirty="0"/>
              <a:t>’</a:t>
            </a:r>
            <a:endParaRPr lang="en-US" altLang="zh-CN" dirty="0"/>
          </a:p>
          <a:p>
            <a:pPr lvl="1"/>
            <a:r>
              <a:rPr lang="en-US" altLang="zh-CN" dirty="0"/>
              <a:t>Chunk</a:t>
            </a:r>
            <a:r>
              <a:rPr lang="zh-CN" altLang="en-US" dirty="0"/>
              <a:t>为请求内容的一行内容，格式为字符串</a:t>
            </a:r>
            <a:endParaRPr lang="en-US" altLang="zh-CN" dirty="0"/>
          </a:p>
          <a:p>
            <a:pPr lvl="1"/>
            <a:r>
              <a:rPr lang="zh-CN" altLang="en-US" dirty="0"/>
              <a:t>理论上只要能将</a:t>
            </a:r>
            <a:r>
              <a:rPr lang="en-US" altLang="zh-CN" dirty="0"/>
              <a:t>str</a:t>
            </a:r>
            <a:r>
              <a:rPr lang="zh-CN" altLang="en-US" dirty="0"/>
              <a:t>转为</a:t>
            </a:r>
            <a:r>
              <a:rPr lang="en-US" altLang="zh-CN" dirty="0"/>
              <a:t>arrow</a:t>
            </a:r>
            <a:r>
              <a:rPr lang="zh-CN" altLang="en-US" dirty="0"/>
              <a:t>那么可以支持任何格式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06BEB2D-3976-4AE8-9BCA-982BF9C2A9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279514"/>
            <a:ext cx="12192000" cy="342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459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A2DEE7-1E69-4966-96AB-A5CB916EB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59E8B7-6855-4B80-B2D2-93687EDEE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内存映射</a:t>
            </a:r>
            <a:endParaRPr lang="en-US" altLang="zh-CN" dirty="0"/>
          </a:p>
          <a:p>
            <a:pPr lvl="1"/>
            <a:r>
              <a:rPr lang="zh-CN" altLang="en-US" dirty="0"/>
              <a:t>在</a:t>
            </a:r>
            <a:r>
              <a:rPr lang="en-US" altLang="zh-CN" dirty="0"/>
              <a:t>java</a:t>
            </a:r>
            <a:r>
              <a:rPr lang="zh-CN" altLang="en-US" dirty="0"/>
              <a:t>端目前用处不是很大，因为有分配上限</a:t>
            </a:r>
            <a:endParaRPr lang="en-US" altLang="zh-CN" dirty="0"/>
          </a:p>
          <a:p>
            <a:pPr lvl="1"/>
            <a:r>
              <a:rPr lang="en-US" altLang="zh-CN" dirty="0"/>
              <a:t>Python</a:t>
            </a:r>
            <a:r>
              <a:rPr lang="zh-CN" altLang="en-US" dirty="0"/>
              <a:t>端也只能用于进程间的内存共享，对于跨节点作用不大</a:t>
            </a:r>
            <a:endParaRPr lang="en-US" altLang="zh-CN" dirty="0"/>
          </a:p>
          <a:p>
            <a:r>
              <a:rPr lang="zh-CN" altLang="en-US" dirty="0"/>
              <a:t>效率如何？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其他问题</a:t>
            </a:r>
            <a:endParaRPr lang="en-US" altLang="zh-CN" dirty="0"/>
          </a:p>
          <a:p>
            <a:pPr lvl="1"/>
            <a:r>
              <a:rPr lang="zh-CN" altLang="en-US" dirty="0"/>
              <a:t>一行过大</a:t>
            </a:r>
            <a:endParaRPr lang="en-US" altLang="zh-CN" dirty="0"/>
          </a:p>
          <a:p>
            <a:pPr lvl="1"/>
            <a:r>
              <a:rPr lang="zh-CN" altLang="en-US" dirty="0"/>
              <a:t>多行</a:t>
            </a:r>
            <a:r>
              <a:rPr lang="en-US" altLang="zh-CN" dirty="0"/>
              <a:t>/</a:t>
            </a:r>
            <a:r>
              <a:rPr lang="zh-CN" altLang="en-US" dirty="0"/>
              <a:t>并发</a:t>
            </a:r>
            <a:endParaRPr lang="en-US" altLang="zh-CN" dirty="0"/>
          </a:p>
          <a:p>
            <a:pPr lvl="1"/>
            <a:r>
              <a:rPr lang="zh-CN" altLang="en-US" dirty="0"/>
              <a:t>其它类型数据</a:t>
            </a:r>
            <a:endParaRPr lang="en-US" altLang="zh-CN" dirty="0"/>
          </a:p>
          <a:p>
            <a:pPr lvl="1"/>
            <a:r>
              <a:rPr lang="zh-CN" altLang="en-US" dirty="0"/>
              <a:t>数据操作</a:t>
            </a:r>
          </a:p>
        </p:txBody>
      </p:sp>
    </p:spTree>
    <p:extLst>
      <p:ext uri="{BB962C8B-B14F-4D97-AF65-F5344CB8AC3E}">
        <p14:creationId xmlns:p14="http://schemas.microsoft.com/office/powerpoint/2010/main" val="801993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701</TotalTime>
  <Words>459</Words>
  <Application>Microsoft Office PowerPoint</Application>
  <PresentationFormat>宽屏</PresentationFormat>
  <Paragraphs>77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等线</vt:lpstr>
      <vt:lpstr>等线 Light</vt:lpstr>
      <vt:lpstr>Arial</vt:lpstr>
      <vt:lpstr>Office 主题​​</vt:lpstr>
      <vt:lpstr>arrow零拷贝与ipc跨进程通信</vt:lpstr>
      <vt:lpstr>内存映射回顾</vt:lpstr>
      <vt:lpstr>目前的业务需求</vt:lpstr>
      <vt:lpstr>进展</vt:lpstr>
      <vt:lpstr>Spark内（JVM）的内存映射</vt:lpstr>
      <vt:lpstr>ARROW+socket IPC通信</vt:lpstr>
      <vt:lpstr>ARROW+socket IPC通信</vt:lpstr>
      <vt:lpstr>CSV分块转为ARROW</vt:lpstr>
      <vt:lpstr>http2arrow</vt:lpstr>
      <vt:lpstr>总结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Yomi Natsusaki</dc:creator>
  <cp:lastModifiedBy>Yomi Natsusaki</cp:lastModifiedBy>
  <cp:revision>18</cp:revision>
  <dcterms:created xsi:type="dcterms:W3CDTF">2024-06-26T13:38:42Z</dcterms:created>
  <dcterms:modified xsi:type="dcterms:W3CDTF">2024-06-28T03:13:13Z</dcterms:modified>
</cp:coreProperties>
</file>