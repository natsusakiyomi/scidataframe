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1" r:id="rId5"/>
    <p:sldId id="257" r:id="rId6"/>
    <p:sldId id="258" r:id="rId7"/>
    <p:sldId id="263" r:id="rId8"/>
    <p:sldId id="26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58E0A-9145-481E-BF98-F353B69C6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1A140E-EFE1-4988-93EE-F112736DB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F88EBE-68C1-46B7-8669-09A886DA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5EB623-B349-4E42-ADAE-9EE96C85E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DF2C95-EE36-4062-87D0-7C862DDA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7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70A5D-A472-4743-82DA-E1F7BF449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A5F17-BC51-406A-90E2-8E26BD68B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B7AAB0-E7C9-44E6-94B2-18155046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9B84F-B1EC-4EFA-B9B6-4A8CBD9B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8665D-71A6-45EE-9EE2-E14538049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06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6FE1C-7121-46C7-AEDB-725C6605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B6D20B-502F-48A1-9035-A496791DD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5C5F60-17BF-49F1-B730-564F097E2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AB076-8729-495D-9A27-2507939A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0B5571-465C-43F0-8CC7-E70A71FD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0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32D98-9B84-4C46-8476-72D50F1CD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FBA455-BA45-4BEF-9169-4BED90815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E42AC5-691F-4F51-B33A-4444B73F2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438668-87A2-43B4-A325-203FE827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B10E69-5D17-4D82-AF89-14B769A8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68FAA9-7528-4C0D-A964-E771E663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419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770B4-AC59-46FD-A63B-A6E9942FF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851E3B-F9F1-496A-B82C-A0C81084D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712408-E022-4C94-A0E6-DE64D6686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D7EB80-C2B3-4C4C-8205-43C2FF9A8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F98DF2-13EF-4509-9C1A-2786679B7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C3E637-D559-4AC2-9AE6-E26D9106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003B4D-8403-4200-9F24-AED43C3DD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2D6857-6E9A-4F1D-8EE9-E8E411F8C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98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EF989-FCAD-4E75-AB35-F1DF3B05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9DAF8A-50AB-4B28-96F7-68B3402C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748EBB-9EB8-4EBA-B98B-396F56F34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E80C5A-02C2-4E7F-A017-CFE09CA3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55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80DC58-C405-4D08-A2CD-83977A9A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229608-1B6E-446F-B565-B893AA44F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35A77E-8258-4716-89A1-DED3ABAB6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650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7F76F-A205-41F5-941F-40811D7F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D4F470-1160-4BB1-81CD-AFE959336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B60A0C-83FA-4E8C-9176-72E0997DB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40C155-4C10-4BC6-BE4D-3618AAC0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1DDDE4-FA96-4252-8F94-2CED3DEC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25A0D3-64DD-4FA8-96A9-AFFEB7B6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45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EC441-8F02-46CD-83A4-722BD6E2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0B192C-CF9D-41DB-82AA-98D6A50BA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311343-A7AB-4FAF-ABC8-35533813D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84CD97-B3F2-41F6-86C3-8D543A5A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C078E4-340B-4B49-AA3A-09B84FED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D42195-59D7-42F5-9557-C3992878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95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17A1D-91AE-4CDF-90BA-0120DFAE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442674-FF7F-4D6D-8023-4503A152C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DE90FD-3F9F-410F-AADC-81599F2CE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D5D36-42C9-41D8-B656-366CCD16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2D32FC-6F53-4773-84D5-2629E458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12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BEFA31-CFDE-423A-B017-4363819C2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D44E95-2175-429D-9A20-B5AEBE9C0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019874-32BD-44B2-BD8E-20BBE048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A70EC-20F4-4425-ADF1-39D4C1DE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3B06F0-96C4-4463-9ED1-6D82FCDF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37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1853E2-FA2A-4CF8-BA53-50A2557D8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3AB111-9DA6-4033-83F4-C19836838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9C5F42-9FC3-4AFC-8346-56925AF72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6B9CF-70F5-4A38-BE52-72410E8906B7}" type="datetimeFigureOut">
              <a:rPr lang="zh-CN" altLang="en-US" smtClean="0"/>
              <a:t>2024/7/7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C2FA1-7EDA-4429-A170-2941D04AC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4A9BA-4F44-49F3-BA3E-A4D84982E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6E20F-4146-4941-8992-C1C0D9827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3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0D1F5-B9ED-4FF6-93E0-FB9678BE1D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http2arrow</a:t>
            </a:r>
            <a:r>
              <a:rPr lang="zh-CN" altLang="en-US" dirty="0"/>
              <a:t>实现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B2F14A-AB55-46B9-A730-CC58AB966A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392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58600-82C9-456B-A102-7C6BA122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72A8D0-196B-43C0-91F7-0CD38539D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18093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092E3-0DA0-47E8-8C8B-435717D69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http2arrow</a:t>
            </a:r>
            <a:r>
              <a:rPr lang="zh-CN" altLang="en-US" dirty="0"/>
              <a:t>：实现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628E0-AAB2-408E-974E-C1433D3D0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GET</a:t>
            </a:r>
            <a:r>
              <a:rPr lang="zh-CN" altLang="en-US" dirty="0"/>
              <a:t>请求返回</a:t>
            </a:r>
            <a:r>
              <a:rPr lang="en-US" altLang="zh-CN" dirty="0"/>
              <a:t>CSV</a:t>
            </a:r>
            <a:r>
              <a:rPr lang="zh-CN" altLang="en-US" dirty="0"/>
              <a:t>数据实体到</a:t>
            </a:r>
            <a:r>
              <a:rPr lang="en-US" altLang="zh-CN" dirty="0"/>
              <a:t>ARROW IPC</a:t>
            </a:r>
            <a:r>
              <a:rPr lang="zh-CN" altLang="en-US" dirty="0"/>
              <a:t>格式的流式转换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要求：由于需要支持算子操作，不能将每一条数据分隔转换，每条数据是原子单位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方案：内存与磁盘缓冲结合</a:t>
            </a:r>
            <a:endParaRPr lang="en-US" altLang="zh-CN" dirty="0"/>
          </a:p>
          <a:p>
            <a:pPr lvl="2"/>
            <a:r>
              <a:rPr lang="en-US" altLang="zh-CN" dirty="0" err="1"/>
              <a:t>iter_lines</a:t>
            </a:r>
            <a:r>
              <a:rPr lang="zh-CN" altLang="en-US" dirty="0"/>
              <a:t>→</a:t>
            </a:r>
            <a:r>
              <a:rPr lang="en-US" altLang="zh-CN" dirty="0" err="1"/>
              <a:t>iter_content</a:t>
            </a:r>
            <a:r>
              <a:rPr lang="en-US" altLang="zh-CN" dirty="0"/>
              <a:t> </a:t>
            </a:r>
            <a:r>
              <a:rPr lang="zh-CN" altLang="en-US" dirty="0"/>
              <a:t>可以一次性读取多行数据</a:t>
            </a:r>
            <a:endParaRPr lang="en-US" altLang="zh-CN" dirty="0"/>
          </a:p>
          <a:p>
            <a:pPr lvl="2"/>
            <a:r>
              <a:rPr lang="en-US" altLang="zh-CN" dirty="0">
                <a:effectLst/>
              </a:rPr>
              <a:t>Chunk size</a:t>
            </a:r>
            <a:r>
              <a:rPr lang="zh-CN" altLang="en-US" dirty="0">
                <a:effectLst/>
              </a:rPr>
              <a:t>尽量大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如何避免一行被分割到多块：</a:t>
            </a:r>
            <a:r>
              <a:rPr lang="en-US" altLang="zh-CN" dirty="0" err="1"/>
              <a:t>rfind</a:t>
            </a:r>
            <a:r>
              <a:rPr lang="zh-CN" altLang="en-US" dirty="0">
                <a:effectLst/>
              </a:rPr>
              <a:t>识别字节流最后一个分隔符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一行不超过</a:t>
            </a:r>
            <a:r>
              <a:rPr lang="en-US" altLang="zh-CN" dirty="0"/>
              <a:t>chunk size</a:t>
            </a:r>
            <a:r>
              <a:rPr lang="zh-CN" altLang="en-US" dirty="0"/>
              <a:t>：内存转换</a:t>
            </a:r>
            <a:endParaRPr lang="en-US" altLang="zh-CN" dirty="0"/>
          </a:p>
          <a:p>
            <a:pPr lvl="3"/>
            <a:r>
              <a:rPr lang="en-US" altLang="zh-CN" dirty="0" err="1"/>
              <a:t>pa.py_buffer</a:t>
            </a:r>
            <a:r>
              <a:rPr lang="zh-CN" altLang="en-US" dirty="0"/>
              <a:t>转换为</a:t>
            </a:r>
            <a:r>
              <a:rPr lang="en-US" altLang="zh-CN" dirty="0"/>
              <a:t>pa</a:t>
            </a:r>
            <a:r>
              <a:rPr lang="zh-CN" altLang="en-US" dirty="0"/>
              <a:t>字节流</a:t>
            </a:r>
            <a:r>
              <a:rPr lang="en-US" altLang="zh-CN" dirty="0"/>
              <a:t>+</a:t>
            </a:r>
            <a:r>
              <a:rPr lang="en-US" altLang="zh-CN" dirty="0" err="1"/>
              <a:t>csv.read_csv</a:t>
            </a:r>
            <a:r>
              <a:rPr lang="zh-CN" altLang="en-US" dirty="0"/>
              <a:t>从字节流读取为</a:t>
            </a:r>
            <a:r>
              <a:rPr lang="en-US" altLang="zh-CN" dirty="0" err="1"/>
              <a:t>Table+ipc.RecordBatchStreamWriter</a:t>
            </a:r>
            <a:r>
              <a:rPr lang="zh-CN" altLang="en-US" dirty="0"/>
              <a:t>写入</a:t>
            </a:r>
            <a:endParaRPr lang="en-US" altLang="zh-CN" dirty="0"/>
          </a:p>
          <a:p>
            <a:pPr lvl="2"/>
            <a:r>
              <a:rPr lang="zh-CN" altLang="en-US" dirty="0"/>
              <a:t>一行超过</a:t>
            </a:r>
            <a:r>
              <a:rPr lang="en-US" altLang="zh-CN" dirty="0"/>
              <a:t>chunk size</a:t>
            </a:r>
            <a:r>
              <a:rPr lang="zh-CN" altLang="en-US" dirty="0"/>
              <a:t>：磁盘缓冲</a:t>
            </a:r>
            <a:endParaRPr lang="en-US" altLang="zh-CN" dirty="0"/>
          </a:p>
          <a:p>
            <a:pPr lvl="3"/>
            <a:r>
              <a:rPr lang="zh-CN" altLang="en-US" dirty="0"/>
              <a:t>写入</a:t>
            </a:r>
            <a:r>
              <a:rPr lang="en-US" altLang="zh-CN" dirty="0" err="1"/>
              <a:t>tempfile</a:t>
            </a:r>
            <a:r>
              <a:rPr lang="zh-CN" altLang="en-US" dirty="0"/>
              <a:t>临时文件，读取后删除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对比方式：落盘转换</a:t>
            </a:r>
            <a:endParaRPr lang="en-US" altLang="zh-CN" dirty="0"/>
          </a:p>
          <a:p>
            <a:pPr lvl="1"/>
            <a:r>
              <a:rPr lang="zh-CN" altLang="en-US" dirty="0"/>
              <a:t>以同样的</a:t>
            </a:r>
            <a:r>
              <a:rPr lang="en-US" altLang="zh-CN" dirty="0"/>
              <a:t>chunk size</a:t>
            </a:r>
            <a:r>
              <a:rPr lang="zh-CN" altLang="en-US" dirty="0"/>
              <a:t>读取，直接写入硬盘</a:t>
            </a:r>
            <a:endParaRPr lang="en-US" altLang="zh-CN" dirty="0"/>
          </a:p>
          <a:p>
            <a:pPr lvl="1"/>
            <a:r>
              <a:rPr lang="zh-CN" altLang="en-US" dirty="0"/>
              <a:t>再从</a:t>
            </a:r>
            <a:r>
              <a:rPr lang="en-US" altLang="zh-CN" dirty="0"/>
              <a:t>csv</a:t>
            </a:r>
            <a:r>
              <a:rPr lang="zh-CN" altLang="en-US" dirty="0"/>
              <a:t>文件以同样的</a:t>
            </a:r>
            <a:r>
              <a:rPr lang="en-US" altLang="zh-CN" dirty="0"/>
              <a:t>chunk size</a:t>
            </a:r>
            <a:r>
              <a:rPr lang="zh-CN" altLang="en-US" dirty="0"/>
              <a:t>分块写为</a:t>
            </a:r>
            <a:r>
              <a:rPr lang="en-US" altLang="zh-CN" dirty="0"/>
              <a:t>IPC</a:t>
            </a:r>
            <a:r>
              <a:rPr lang="zh-CN" altLang="en-US" dirty="0"/>
              <a:t>格式</a:t>
            </a:r>
          </a:p>
        </p:txBody>
      </p:sp>
    </p:spTree>
    <p:extLst>
      <p:ext uri="{BB962C8B-B14F-4D97-AF65-F5344CB8AC3E}">
        <p14:creationId xmlns:p14="http://schemas.microsoft.com/office/powerpoint/2010/main" val="3063670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1EECF-7922-4446-96ED-0D0E9C55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测试条件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6F813-FC22-4814-B380-C61CB6798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小数据集</a:t>
            </a:r>
            <a:endParaRPr lang="en-US" altLang="zh-CN" dirty="0"/>
          </a:p>
          <a:p>
            <a:pPr lvl="1"/>
            <a:r>
              <a:rPr lang="en-US" altLang="zh-CN" dirty="0"/>
              <a:t>2MB</a:t>
            </a:r>
            <a:r>
              <a:rPr lang="zh-CN" altLang="en-US" dirty="0"/>
              <a:t>的</a:t>
            </a:r>
            <a:r>
              <a:rPr lang="en-US" altLang="zh-CN" dirty="0"/>
              <a:t>csv</a:t>
            </a:r>
          </a:p>
          <a:p>
            <a:pPr lvl="1"/>
            <a:r>
              <a:rPr lang="en-US" altLang="zh-CN" dirty="0"/>
              <a:t>chunk size</a:t>
            </a:r>
            <a:r>
              <a:rPr lang="zh-CN" altLang="en-US" dirty="0"/>
              <a:t>：</a:t>
            </a:r>
            <a:r>
              <a:rPr lang="en-US" altLang="zh-CN" dirty="0"/>
              <a:t>20kB/1MB</a:t>
            </a:r>
          </a:p>
          <a:p>
            <a:pPr lvl="1"/>
            <a:r>
              <a:rPr lang="zh-CN" altLang="en-US" dirty="0"/>
              <a:t>迭代次数：</a:t>
            </a:r>
            <a:r>
              <a:rPr lang="en-US" altLang="zh-CN" dirty="0"/>
              <a:t>100</a:t>
            </a:r>
            <a:r>
              <a:rPr lang="zh-CN" altLang="en-US" dirty="0"/>
              <a:t>次</a:t>
            </a:r>
            <a:r>
              <a:rPr lang="en-US" altLang="zh-CN" dirty="0"/>
              <a:t>/2</a:t>
            </a:r>
            <a:r>
              <a:rPr lang="zh-CN" altLang="en-US" dirty="0"/>
              <a:t>次</a:t>
            </a:r>
            <a:endParaRPr lang="en-US" altLang="zh-CN" dirty="0"/>
          </a:p>
          <a:p>
            <a:r>
              <a:rPr lang="zh-CN" altLang="en-US" dirty="0"/>
              <a:t>大数据集</a:t>
            </a:r>
            <a:endParaRPr lang="en-US" altLang="zh-CN" dirty="0"/>
          </a:p>
          <a:p>
            <a:pPr lvl="1"/>
            <a:r>
              <a:rPr lang="en-US" altLang="zh-CN" dirty="0"/>
              <a:t>232M</a:t>
            </a:r>
            <a:r>
              <a:rPr lang="zh-CN" altLang="en-US" dirty="0"/>
              <a:t>的</a:t>
            </a:r>
            <a:r>
              <a:rPr lang="en-US" altLang="zh-CN" dirty="0"/>
              <a:t>csv</a:t>
            </a:r>
          </a:p>
          <a:p>
            <a:pPr lvl="1"/>
            <a:r>
              <a:rPr lang="en-US" altLang="zh-CN" dirty="0"/>
              <a:t>chunk size</a:t>
            </a:r>
            <a:r>
              <a:rPr lang="zh-CN" altLang="en-US" dirty="0"/>
              <a:t>：</a:t>
            </a:r>
            <a:r>
              <a:rPr lang="en-US" altLang="zh-CN" dirty="0"/>
              <a:t>1MB/100MB</a:t>
            </a:r>
          </a:p>
          <a:p>
            <a:pPr lvl="1"/>
            <a:r>
              <a:rPr lang="zh-CN" altLang="en-US" dirty="0"/>
              <a:t>迭代次数：</a:t>
            </a:r>
            <a:r>
              <a:rPr lang="en-US" altLang="zh-CN" dirty="0"/>
              <a:t>232</a:t>
            </a:r>
            <a:r>
              <a:rPr lang="zh-CN" altLang="en-US" dirty="0"/>
              <a:t>次</a:t>
            </a:r>
            <a:r>
              <a:rPr lang="en-US" altLang="zh-CN" dirty="0"/>
              <a:t>/3</a:t>
            </a:r>
            <a:r>
              <a:rPr lang="zh-CN" altLang="en-US" dirty="0"/>
              <a:t>次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1181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F70D7-DF2C-4B52-937E-EE93530F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：每行小于</a:t>
            </a:r>
            <a:r>
              <a:rPr lang="en-US" altLang="zh-CN" dirty="0"/>
              <a:t>chunk size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09744EB-B81A-4876-A200-9681EB61E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2204" y="1576203"/>
            <a:ext cx="3029796" cy="558956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1AE72F9-466E-4E5E-A81D-643A62590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800" y="922233"/>
            <a:ext cx="2870200" cy="6539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101D516-57F3-4B1A-AD7A-7543BFC6D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519" y="2093121"/>
            <a:ext cx="3401481" cy="7134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5A95D3E-90A1-4A76-A9A1-42915D77C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1800" y="2762302"/>
            <a:ext cx="2870200" cy="756632"/>
          </a:xfrm>
          <a:prstGeom prst="rect">
            <a:avLst/>
          </a:prstGeom>
        </p:spPr>
      </p:pic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0C5C05B0-EA85-487D-9365-957EE8833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00786"/>
              </p:ext>
            </p:extLst>
          </p:nvPr>
        </p:nvGraphicFramePr>
        <p:xfrm>
          <a:off x="476677" y="1937888"/>
          <a:ext cx="8127999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087657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141587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93159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流式转换相对于落盘转换的时间提升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小文件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大文件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938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小</a:t>
                      </a:r>
                      <a:r>
                        <a:rPr lang="en-US" altLang="zh-CN" dirty="0"/>
                        <a:t>chunk size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43.23%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56.17%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12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大</a:t>
                      </a:r>
                      <a:r>
                        <a:rPr lang="en-US" altLang="zh-CN" dirty="0"/>
                        <a:t>chunk size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73.75%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55.77%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39207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C1965E8B-19D9-4BC7-92BE-C015FEA73785}"/>
              </a:ext>
            </a:extLst>
          </p:cNvPr>
          <p:cNvSpPr txBox="1"/>
          <p:nvPr/>
        </p:nvSpPr>
        <p:spPr>
          <a:xfrm>
            <a:off x="685801" y="3566848"/>
            <a:ext cx="10243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结果分析：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对于小文件，使用流式传输提升受限于迭代次数，当</a:t>
            </a:r>
            <a:r>
              <a:rPr lang="en-US" altLang="zh-CN" dirty="0"/>
              <a:t>chunk size</a:t>
            </a:r>
            <a:r>
              <a:rPr lang="zh-CN" altLang="en-US" dirty="0"/>
              <a:t>增加时迭代次数减少速度更快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对于大文件，主要瓶颈在网络传输速度，由于处理速度高于传输速度所以受迭代次数影响较小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结论：文件每行小于</a:t>
            </a:r>
            <a:r>
              <a:rPr lang="en-US" altLang="zh-CN" dirty="0"/>
              <a:t>chunk size</a:t>
            </a:r>
            <a:r>
              <a:rPr lang="zh-CN" altLang="en-US" dirty="0"/>
              <a:t>时使用流式转换均可以大幅提升转换速度，对于小文件可以使用大</a:t>
            </a:r>
            <a:r>
              <a:rPr lang="en-US" altLang="zh-CN" dirty="0"/>
              <a:t>chunk size</a:t>
            </a:r>
            <a:r>
              <a:rPr lang="zh-CN" altLang="en-US" dirty="0"/>
              <a:t>进一步提升效率。</a:t>
            </a:r>
          </a:p>
        </p:txBody>
      </p:sp>
    </p:spTree>
    <p:extLst>
      <p:ext uri="{BB962C8B-B14F-4D97-AF65-F5344CB8AC3E}">
        <p14:creationId xmlns:p14="http://schemas.microsoft.com/office/powerpoint/2010/main" val="324903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2AB26-6F4B-4ECB-93C5-DEE93B08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en-US" altLang="zh-CN" dirty="0"/>
              <a:t>2</a:t>
            </a:r>
            <a:r>
              <a:rPr lang="zh-CN" altLang="en-US" dirty="0"/>
              <a:t>：每行大于</a:t>
            </a:r>
            <a:r>
              <a:rPr lang="en-US" altLang="zh-CN" dirty="0"/>
              <a:t>chunk size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7C11BD-6275-4C49-B525-D2CDD268E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与直接落盘行为一致故不进行对比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C292320-0A96-4E8E-8F8F-290D34D88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555528"/>
              </p:ext>
            </p:extLst>
          </p:nvPr>
        </p:nvGraphicFramePr>
        <p:xfrm>
          <a:off x="1193800" y="2616200"/>
          <a:ext cx="8483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720">
                  <a:extLst>
                    <a:ext uri="{9D8B030D-6E8A-4147-A177-3AD203B41FA5}">
                      <a16:colId xmlns:a16="http://schemas.microsoft.com/office/drawing/2014/main" val="3221802300"/>
                    </a:ext>
                  </a:extLst>
                </a:gridCol>
                <a:gridCol w="1696720">
                  <a:extLst>
                    <a:ext uri="{9D8B030D-6E8A-4147-A177-3AD203B41FA5}">
                      <a16:colId xmlns:a16="http://schemas.microsoft.com/office/drawing/2014/main" val="670247577"/>
                    </a:ext>
                  </a:extLst>
                </a:gridCol>
                <a:gridCol w="1696720">
                  <a:extLst>
                    <a:ext uri="{9D8B030D-6E8A-4147-A177-3AD203B41FA5}">
                      <a16:colId xmlns:a16="http://schemas.microsoft.com/office/drawing/2014/main" val="1562475997"/>
                    </a:ext>
                  </a:extLst>
                </a:gridCol>
                <a:gridCol w="2076714">
                  <a:extLst>
                    <a:ext uri="{9D8B030D-6E8A-4147-A177-3AD203B41FA5}">
                      <a16:colId xmlns:a16="http://schemas.microsoft.com/office/drawing/2014/main" val="2293153662"/>
                    </a:ext>
                  </a:extLst>
                </a:gridCol>
                <a:gridCol w="1316726">
                  <a:extLst>
                    <a:ext uri="{9D8B030D-6E8A-4147-A177-3AD203B41FA5}">
                      <a16:colId xmlns:a16="http://schemas.microsoft.com/office/drawing/2014/main" val="955011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一行</a:t>
                      </a:r>
                      <a:r>
                        <a:rPr lang="en-US" altLang="zh-CN" dirty="0"/>
                        <a:t>(B)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chunk size(B)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迭代次数</a:t>
                      </a:r>
                      <a:r>
                        <a:rPr lang="en-US" altLang="zh-CN" dirty="0"/>
                        <a:t>(times)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写入时间</a:t>
                      </a:r>
                      <a:r>
                        <a:rPr lang="en-US" altLang="zh-CN" dirty="0"/>
                        <a:t>(s)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999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小文件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0.6827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46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大文件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232M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43.63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339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43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ECEC9-4D4D-4EAE-A6DD-5548BC44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内存分析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2B3EA5-7FBD-424C-8C49-314F9FAB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1469149"/>
            <a:ext cx="11861800" cy="3962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2A3CA80-4029-419B-82FD-CA1401E83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33" y="1845874"/>
            <a:ext cx="11988800" cy="3838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8F00425-8F6D-4DA2-81A0-5DF13E838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66" y="2192426"/>
            <a:ext cx="11861800" cy="35607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1FB8C9-FA62-41D7-95E4-116F58E03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87597"/>
            <a:ext cx="12192000" cy="368360"/>
          </a:xfrm>
          <a:prstGeom prst="rect">
            <a:avLst/>
          </a:prstGeom>
        </p:spPr>
      </p:pic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2DAE4EB5-9E62-4C69-BF33-2D9EC7532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976280"/>
              </p:ext>
            </p:extLst>
          </p:nvPr>
        </p:nvGraphicFramePr>
        <p:xfrm>
          <a:off x="1549400" y="3151128"/>
          <a:ext cx="8128000" cy="1940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744481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027097"/>
                    </a:ext>
                  </a:extLst>
                </a:gridCol>
              </a:tblGrid>
              <a:tr h="45665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分配内存个数</a:t>
                      </a: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xchunk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46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Iter_content</a:t>
                      </a:r>
                      <a:r>
                        <a:rPr lang="zh-CN" altLang="en-US" dirty="0"/>
                        <a:t>迭代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95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pa.py_buffer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069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read_csv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95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writer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870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743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E7228-ED6D-4178-8C03-00B77AE9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79D00-6A39-474E-B818-CC81980BF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实现零拷贝</a:t>
            </a:r>
            <a:endParaRPr lang="en-US" altLang="zh-CN" dirty="0"/>
          </a:p>
          <a:p>
            <a:r>
              <a:rPr lang="zh-CN" altLang="en-US" dirty="0"/>
              <a:t>其它数据类型的支持</a:t>
            </a:r>
            <a:endParaRPr lang="en-US" altLang="zh-CN" dirty="0"/>
          </a:p>
          <a:p>
            <a:r>
              <a:rPr lang="zh-CN" altLang="en-US" dirty="0"/>
              <a:t>图片类型支持</a:t>
            </a:r>
          </a:p>
          <a:p>
            <a:r>
              <a:rPr lang="zh-CN" altLang="en-US" dirty="0"/>
              <a:t>如何处理一行过大的临时磁盘文件？因为要转成</a:t>
            </a:r>
            <a:r>
              <a:rPr lang="en-US" altLang="zh-CN" dirty="0"/>
              <a:t>arrow</a:t>
            </a:r>
            <a:r>
              <a:rPr lang="zh-CN" altLang="en-US" dirty="0"/>
              <a:t>则必须按行读取</a:t>
            </a:r>
            <a:endParaRPr lang="en-US" altLang="zh-CN" dirty="0"/>
          </a:p>
          <a:p>
            <a:r>
              <a:rPr lang="zh-CN" altLang="en-US" dirty="0"/>
              <a:t>分块从</a:t>
            </a:r>
            <a:r>
              <a:rPr lang="en-US" altLang="zh-CN" dirty="0"/>
              <a:t>csv</a:t>
            </a:r>
            <a:r>
              <a:rPr lang="zh-CN" altLang="en-US" dirty="0"/>
              <a:t>自动推断数据类型，可能推断错误的数据类型，目前全部转换为了</a:t>
            </a:r>
            <a:r>
              <a:rPr lang="en-US" altLang="zh-CN" dirty="0"/>
              <a:t>str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1420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442</Words>
  <Application>Microsoft Office PowerPoint</Application>
  <PresentationFormat>宽屏</PresentationFormat>
  <Paragraphs>72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http2arrow实现</vt:lpstr>
      <vt:lpstr>PowerPoint 演示文稿</vt:lpstr>
      <vt:lpstr>http2arrow：实现</vt:lpstr>
      <vt:lpstr>测试条件</vt:lpstr>
      <vt:lpstr>测试1：每行小于chunk size</vt:lpstr>
      <vt:lpstr>测试2：每行大于chunk size</vt:lpstr>
      <vt:lpstr>内存分析</vt:lpstr>
      <vt:lpstr>下一步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http2arrow与图片类型支持</dc:title>
  <dc:creator>Yomi Natsusaki</dc:creator>
  <cp:lastModifiedBy>Yomi Natsusaki</cp:lastModifiedBy>
  <cp:revision>16</cp:revision>
  <dcterms:created xsi:type="dcterms:W3CDTF">2024-07-05T01:58:18Z</dcterms:created>
  <dcterms:modified xsi:type="dcterms:W3CDTF">2024-07-07T04:09:47Z</dcterms:modified>
</cp:coreProperties>
</file>