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2" r:id="rId6"/>
    <p:sldId id="259"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425E37-0754-4F2C-930B-3112BA019B5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B354803-5096-4CA3-BE7D-25B5F4D41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1EFA7FF-AC07-41B1-BBA9-7FCCB87EF373}"/>
              </a:ext>
            </a:extLst>
          </p:cNvPr>
          <p:cNvSpPr>
            <a:spLocks noGrp="1"/>
          </p:cNvSpPr>
          <p:nvPr>
            <p:ph type="dt" sz="half" idx="10"/>
          </p:nvPr>
        </p:nvSpPr>
        <p:spPr/>
        <p:txBody>
          <a:bodyPr/>
          <a:lstStyle/>
          <a:p>
            <a:fld id="{0EF10FB5-A824-4858-86DC-39E58DB3B991}" type="datetimeFigureOut">
              <a:rPr lang="zh-CN" altLang="en-US" smtClean="0"/>
              <a:t>2024/6/13</a:t>
            </a:fld>
            <a:endParaRPr lang="zh-CN" altLang="en-US"/>
          </a:p>
        </p:txBody>
      </p:sp>
      <p:sp>
        <p:nvSpPr>
          <p:cNvPr id="5" name="页脚占位符 4">
            <a:extLst>
              <a:ext uri="{FF2B5EF4-FFF2-40B4-BE49-F238E27FC236}">
                <a16:creationId xmlns:a16="http://schemas.microsoft.com/office/drawing/2014/main" id="{D4886B12-8427-4A6E-B09D-D62868CE233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E14EED9-F628-49DF-A405-8AE988C9A69A}"/>
              </a:ext>
            </a:extLst>
          </p:cNvPr>
          <p:cNvSpPr>
            <a:spLocks noGrp="1"/>
          </p:cNvSpPr>
          <p:nvPr>
            <p:ph type="sldNum" sz="quarter" idx="12"/>
          </p:nvPr>
        </p:nvSpPr>
        <p:spPr/>
        <p:txBody>
          <a:bodyPr/>
          <a:lstStyle/>
          <a:p>
            <a:fld id="{D3903263-1833-405E-89E8-EE292DEE5636}" type="slidenum">
              <a:rPr lang="zh-CN" altLang="en-US" smtClean="0"/>
              <a:t>‹#›</a:t>
            </a:fld>
            <a:endParaRPr lang="zh-CN" altLang="en-US"/>
          </a:p>
        </p:txBody>
      </p:sp>
    </p:spTree>
    <p:extLst>
      <p:ext uri="{BB962C8B-B14F-4D97-AF65-F5344CB8AC3E}">
        <p14:creationId xmlns:p14="http://schemas.microsoft.com/office/powerpoint/2010/main" val="2382803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2647E8-0CD5-4591-AC5B-1A5BC07D674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3EBA8DF-CAC2-48A4-8583-39192E45874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24B8EE-3FFD-4FA3-8D2C-AB1AD33B7FC0}"/>
              </a:ext>
            </a:extLst>
          </p:cNvPr>
          <p:cNvSpPr>
            <a:spLocks noGrp="1"/>
          </p:cNvSpPr>
          <p:nvPr>
            <p:ph type="dt" sz="half" idx="10"/>
          </p:nvPr>
        </p:nvSpPr>
        <p:spPr/>
        <p:txBody>
          <a:bodyPr/>
          <a:lstStyle/>
          <a:p>
            <a:fld id="{0EF10FB5-A824-4858-86DC-39E58DB3B991}" type="datetimeFigureOut">
              <a:rPr lang="zh-CN" altLang="en-US" smtClean="0"/>
              <a:t>2024/6/13</a:t>
            </a:fld>
            <a:endParaRPr lang="zh-CN" altLang="en-US"/>
          </a:p>
        </p:txBody>
      </p:sp>
      <p:sp>
        <p:nvSpPr>
          <p:cNvPr id="5" name="页脚占位符 4">
            <a:extLst>
              <a:ext uri="{FF2B5EF4-FFF2-40B4-BE49-F238E27FC236}">
                <a16:creationId xmlns:a16="http://schemas.microsoft.com/office/drawing/2014/main" id="{39A6E8B0-C4DC-4D07-9140-03D1FA4D5C0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EB0A697-37F3-4A37-A230-C5C94DE97C8D}"/>
              </a:ext>
            </a:extLst>
          </p:cNvPr>
          <p:cNvSpPr>
            <a:spLocks noGrp="1"/>
          </p:cNvSpPr>
          <p:nvPr>
            <p:ph type="sldNum" sz="quarter" idx="12"/>
          </p:nvPr>
        </p:nvSpPr>
        <p:spPr/>
        <p:txBody>
          <a:bodyPr/>
          <a:lstStyle/>
          <a:p>
            <a:fld id="{D3903263-1833-405E-89E8-EE292DEE5636}" type="slidenum">
              <a:rPr lang="zh-CN" altLang="en-US" smtClean="0"/>
              <a:t>‹#›</a:t>
            </a:fld>
            <a:endParaRPr lang="zh-CN" altLang="en-US"/>
          </a:p>
        </p:txBody>
      </p:sp>
    </p:spTree>
    <p:extLst>
      <p:ext uri="{BB962C8B-B14F-4D97-AF65-F5344CB8AC3E}">
        <p14:creationId xmlns:p14="http://schemas.microsoft.com/office/powerpoint/2010/main" val="124939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C763CB-CAB5-4772-A203-DD3EA53287E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46B68B8-81FA-47EA-B102-07C2A637A1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53FF93A-B7A5-448D-8EA4-3BF661E57DC9}"/>
              </a:ext>
            </a:extLst>
          </p:cNvPr>
          <p:cNvSpPr>
            <a:spLocks noGrp="1"/>
          </p:cNvSpPr>
          <p:nvPr>
            <p:ph type="dt" sz="half" idx="10"/>
          </p:nvPr>
        </p:nvSpPr>
        <p:spPr/>
        <p:txBody>
          <a:bodyPr/>
          <a:lstStyle/>
          <a:p>
            <a:fld id="{0EF10FB5-A824-4858-86DC-39E58DB3B991}" type="datetimeFigureOut">
              <a:rPr lang="zh-CN" altLang="en-US" smtClean="0"/>
              <a:t>2024/6/13</a:t>
            </a:fld>
            <a:endParaRPr lang="zh-CN" altLang="en-US"/>
          </a:p>
        </p:txBody>
      </p:sp>
      <p:sp>
        <p:nvSpPr>
          <p:cNvPr id="5" name="页脚占位符 4">
            <a:extLst>
              <a:ext uri="{FF2B5EF4-FFF2-40B4-BE49-F238E27FC236}">
                <a16:creationId xmlns:a16="http://schemas.microsoft.com/office/drawing/2014/main" id="{92296C7B-B817-4B7A-9E2B-47092EC0280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CEC6174-5A7C-4F88-B74D-C95826BC7436}"/>
              </a:ext>
            </a:extLst>
          </p:cNvPr>
          <p:cNvSpPr>
            <a:spLocks noGrp="1"/>
          </p:cNvSpPr>
          <p:nvPr>
            <p:ph type="sldNum" sz="quarter" idx="12"/>
          </p:nvPr>
        </p:nvSpPr>
        <p:spPr/>
        <p:txBody>
          <a:bodyPr/>
          <a:lstStyle/>
          <a:p>
            <a:fld id="{D3903263-1833-405E-89E8-EE292DEE5636}" type="slidenum">
              <a:rPr lang="zh-CN" altLang="en-US" smtClean="0"/>
              <a:t>‹#›</a:t>
            </a:fld>
            <a:endParaRPr lang="zh-CN" altLang="en-US"/>
          </a:p>
        </p:txBody>
      </p:sp>
    </p:spTree>
    <p:extLst>
      <p:ext uri="{BB962C8B-B14F-4D97-AF65-F5344CB8AC3E}">
        <p14:creationId xmlns:p14="http://schemas.microsoft.com/office/powerpoint/2010/main" val="1096319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CE39C9-A4BD-4BE6-9BC0-002F697543C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2DD23F5-E32D-40EA-AB5C-417F4F05CA0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AC618D8-69FC-4886-8AF1-2066C79D789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C23F4F8-A984-4C8E-A646-CC6D4598FD95}"/>
              </a:ext>
            </a:extLst>
          </p:cNvPr>
          <p:cNvSpPr>
            <a:spLocks noGrp="1"/>
          </p:cNvSpPr>
          <p:nvPr>
            <p:ph type="dt" sz="half" idx="10"/>
          </p:nvPr>
        </p:nvSpPr>
        <p:spPr/>
        <p:txBody>
          <a:bodyPr/>
          <a:lstStyle/>
          <a:p>
            <a:fld id="{0EF10FB5-A824-4858-86DC-39E58DB3B991}" type="datetimeFigureOut">
              <a:rPr lang="zh-CN" altLang="en-US" smtClean="0"/>
              <a:t>2024/6/13</a:t>
            </a:fld>
            <a:endParaRPr lang="zh-CN" altLang="en-US"/>
          </a:p>
        </p:txBody>
      </p:sp>
      <p:sp>
        <p:nvSpPr>
          <p:cNvPr id="6" name="页脚占位符 5">
            <a:extLst>
              <a:ext uri="{FF2B5EF4-FFF2-40B4-BE49-F238E27FC236}">
                <a16:creationId xmlns:a16="http://schemas.microsoft.com/office/drawing/2014/main" id="{E2D136EE-8BED-4A3A-B58D-D650AF238C9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A9CF51E-ACFB-4244-9615-D66D6FF40780}"/>
              </a:ext>
            </a:extLst>
          </p:cNvPr>
          <p:cNvSpPr>
            <a:spLocks noGrp="1"/>
          </p:cNvSpPr>
          <p:nvPr>
            <p:ph type="sldNum" sz="quarter" idx="12"/>
          </p:nvPr>
        </p:nvSpPr>
        <p:spPr/>
        <p:txBody>
          <a:bodyPr/>
          <a:lstStyle/>
          <a:p>
            <a:fld id="{D3903263-1833-405E-89E8-EE292DEE5636}" type="slidenum">
              <a:rPr lang="zh-CN" altLang="en-US" smtClean="0"/>
              <a:t>‹#›</a:t>
            </a:fld>
            <a:endParaRPr lang="zh-CN" altLang="en-US"/>
          </a:p>
        </p:txBody>
      </p:sp>
    </p:spTree>
    <p:extLst>
      <p:ext uri="{BB962C8B-B14F-4D97-AF65-F5344CB8AC3E}">
        <p14:creationId xmlns:p14="http://schemas.microsoft.com/office/powerpoint/2010/main" val="766462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C6FA01-198B-4728-978B-B92F8513B47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28AD1FF-1886-493B-9D57-DAF0E45A3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BA9B239-59FC-4B82-A125-2763B2DB10E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2847149-CCBA-493D-824A-1BFC0A7BDD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9433206-BE82-4711-B05B-A386B1C821A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A7C0D93-08D0-4905-9AF5-9632841ABB63}"/>
              </a:ext>
            </a:extLst>
          </p:cNvPr>
          <p:cNvSpPr>
            <a:spLocks noGrp="1"/>
          </p:cNvSpPr>
          <p:nvPr>
            <p:ph type="dt" sz="half" idx="10"/>
          </p:nvPr>
        </p:nvSpPr>
        <p:spPr/>
        <p:txBody>
          <a:bodyPr/>
          <a:lstStyle/>
          <a:p>
            <a:fld id="{0EF10FB5-A824-4858-86DC-39E58DB3B991}" type="datetimeFigureOut">
              <a:rPr lang="zh-CN" altLang="en-US" smtClean="0"/>
              <a:t>2024/6/13</a:t>
            </a:fld>
            <a:endParaRPr lang="zh-CN" altLang="en-US"/>
          </a:p>
        </p:txBody>
      </p:sp>
      <p:sp>
        <p:nvSpPr>
          <p:cNvPr id="8" name="页脚占位符 7">
            <a:extLst>
              <a:ext uri="{FF2B5EF4-FFF2-40B4-BE49-F238E27FC236}">
                <a16:creationId xmlns:a16="http://schemas.microsoft.com/office/drawing/2014/main" id="{3691A44F-0039-455A-BC8C-6021EA99C25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53BD856-9F0B-4315-A2F1-18BB55106326}"/>
              </a:ext>
            </a:extLst>
          </p:cNvPr>
          <p:cNvSpPr>
            <a:spLocks noGrp="1"/>
          </p:cNvSpPr>
          <p:nvPr>
            <p:ph type="sldNum" sz="quarter" idx="12"/>
          </p:nvPr>
        </p:nvSpPr>
        <p:spPr/>
        <p:txBody>
          <a:bodyPr/>
          <a:lstStyle/>
          <a:p>
            <a:fld id="{D3903263-1833-405E-89E8-EE292DEE5636}" type="slidenum">
              <a:rPr lang="zh-CN" altLang="en-US" smtClean="0"/>
              <a:t>‹#›</a:t>
            </a:fld>
            <a:endParaRPr lang="zh-CN" altLang="en-US"/>
          </a:p>
        </p:txBody>
      </p:sp>
    </p:spTree>
    <p:extLst>
      <p:ext uri="{BB962C8B-B14F-4D97-AF65-F5344CB8AC3E}">
        <p14:creationId xmlns:p14="http://schemas.microsoft.com/office/powerpoint/2010/main" val="3827039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2EECD3-E62E-4A8C-B30B-A4A0A3596F8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83F260A-6802-43E6-998B-2AD15F9059B7}"/>
              </a:ext>
            </a:extLst>
          </p:cNvPr>
          <p:cNvSpPr>
            <a:spLocks noGrp="1"/>
          </p:cNvSpPr>
          <p:nvPr>
            <p:ph type="dt" sz="half" idx="10"/>
          </p:nvPr>
        </p:nvSpPr>
        <p:spPr/>
        <p:txBody>
          <a:bodyPr/>
          <a:lstStyle/>
          <a:p>
            <a:fld id="{0EF10FB5-A824-4858-86DC-39E58DB3B991}" type="datetimeFigureOut">
              <a:rPr lang="zh-CN" altLang="en-US" smtClean="0"/>
              <a:t>2024/6/13</a:t>
            </a:fld>
            <a:endParaRPr lang="zh-CN" altLang="en-US"/>
          </a:p>
        </p:txBody>
      </p:sp>
      <p:sp>
        <p:nvSpPr>
          <p:cNvPr id="4" name="页脚占位符 3">
            <a:extLst>
              <a:ext uri="{FF2B5EF4-FFF2-40B4-BE49-F238E27FC236}">
                <a16:creationId xmlns:a16="http://schemas.microsoft.com/office/drawing/2014/main" id="{5F503695-E9E4-44B3-9A05-9CFF79B66F0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5F67668-9075-4A7C-92FF-9F2796DF19AF}"/>
              </a:ext>
            </a:extLst>
          </p:cNvPr>
          <p:cNvSpPr>
            <a:spLocks noGrp="1"/>
          </p:cNvSpPr>
          <p:nvPr>
            <p:ph type="sldNum" sz="quarter" idx="12"/>
          </p:nvPr>
        </p:nvSpPr>
        <p:spPr/>
        <p:txBody>
          <a:bodyPr/>
          <a:lstStyle/>
          <a:p>
            <a:fld id="{D3903263-1833-405E-89E8-EE292DEE5636}" type="slidenum">
              <a:rPr lang="zh-CN" altLang="en-US" smtClean="0"/>
              <a:t>‹#›</a:t>
            </a:fld>
            <a:endParaRPr lang="zh-CN" altLang="en-US"/>
          </a:p>
        </p:txBody>
      </p:sp>
    </p:spTree>
    <p:extLst>
      <p:ext uri="{BB962C8B-B14F-4D97-AF65-F5344CB8AC3E}">
        <p14:creationId xmlns:p14="http://schemas.microsoft.com/office/powerpoint/2010/main" val="94538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3686858-0D65-48C3-AE6B-6FFFB5D1997C}"/>
              </a:ext>
            </a:extLst>
          </p:cNvPr>
          <p:cNvSpPr>
            <a:spLocks noGrp="1"/>
          </p:cNvSpPr>
          <p:nvPr>
            <p:ph type="dt" sz="half" idx="10"/>
          </p:nvPr>
        </p:nvSpPr>
        <p:spPr/>
        <p:txBody>
          <a:bodyPr/>
          <a:lstStyle/>
          <a:p>
            <a:fld id="{0EF10FB5-A824-4858-86DC-39E58DB3B991}" type="datetimeFigureOut">
              <a:rPr lang="zh-CN" altLang="en-US" smtClean="0"/>
              <a:t>2024/6/13</a:t>
            </a:fld>
            <a:endParaRPr lang="zh-CN" altLang="en-US"/>
          </a:p>
        </p:txBody>
      </p:sp>
      <p:sp>
        <p:nvSpPr>
          <p:cNvPr id="3" name="页脚占位符 2">
            <a:extLst>
              <a:ext uri="{FF2B5EF4-FFF2-40B4-BE49-F238E27FC236}">
                <a16:creationId xmlns:a16="http://schemas.microsoft.com/office/drawing/2014/main" id="{DE6F7627-F153-4008-B9A8-B7349DC27E2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1076E91-E3AB-4AE0-AB87-6DE716E982EC}"/>
              </a:ext>
            </a:extLst>
          </p:cNvPr>
          <p:cNvSpPr>
            <a:spLocks noGrp="1"/>
          </p:cNvSpPr>
          <p:nvPr>
            <p:ph type="sldNum" sz="quarter" idx="12"/>
          </p:nvPr>
        </p:nvSpPr>
        <p:spPr/>
        <p:txBody>
          <a:bodyPr/>
          <a:lstStyle/>
          <a:p>
            <a:fld id="{D3903263-1833-405E-89E8-EE292DEE5636}" type="slidenum">
              <a:rPr lang="zh-CN" altLang="en-US" smtClean="0"/>
              <a:t>‹#›</a:t>
            </a:fld>
            <a:endParaRPr lang="zh-CN" altLang="en-US"/>
          </a:p>
        </p:txBody>
      </p:sp>
    </p:spTree>
    <p:extLst>
      <p:ext uri="{BB962C8B-B14F-4D97-AF65-F5344CB8AC3E}">
        <p14:creationId xmlns:p14="http://schemas.microsoft.com/office/powerpoint/2010/main" val="3863976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D8E7B9-C441-473B-9753-99E5D81D94D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615105A-9046-4AC5-AA4B-DF26EBD532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C62A595-5863-4CD8-9C5B-515F64DC44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F801DD4-3B18-4EC6-8855-E04AA3A10495}"/>
              </a:ext>
            </a:extLst>
          </p:cNvPr>
          <p:cNvSpPr>
            <a:spLocks noGrp="1"/>
          </p:cNvSpPr>
          <p:nvPr>
            <p:ph type="dt" sz="half" idx="10"/>
          </p:nvPr>
        </p:nvSpPr>
        <p:spPr/>
        <p:txBody>
          <a:bodyPr/>
          <a:lstStyle/>
          <a:p>
            <a:fld id="{0EF10FB5-A824-4858-86DC-39E58DB3B991}" type="datetimeFigureOut">
              <a:rPr lang="zh-CN" altLang="en-US" smtClean="0"/>
              <a:t>2024/6/13</a:t>
            </a:fld>
            <a:endParaRPr lang="zh-CN" altLang="en-US"/>
          </a:p>
        </p:txBody>
      </p:sp>
      <p:sp>
        <p:nvSpPr>
          <p:cNvPr id="6" name="页脚占位符 5">
            <a:extLst>
              <a:ext uri="{FF2B5EF4-FFF2-40B4-BE49-F238E27FC236}">
                <a16:creationId xmlns:a16="http://schemas.microsoft.com/office/drawing/2014/main" id="{BACC34DD-C508-4A19-A4B8-AD0D350E381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DB9414A-C83D-496F-BE74-F47372C819FD}"/>
              </a:ext>
            </a:extLst>
          </p:cNvPr>
          <p:cNvSpPr>
            <a:spLocks noGrp="1"/>
          </p:cNvSpPr>
          <p:nvPr>
            <p:ph type="sldNum" sz="quarter" idx="12"/>
          </p:nvPr>
        </p:nvSpPr>
        <p:spPr/>
        <p:txBody>
          <a:bodyPr/>
          <a:lstStyle/>
          <a:p>
            <a:fld id="{D3903263-1833-405E-89E8-EE292DEE5636}" type="slidenum">
              <a:rPr lang="zh-CN" altLang="en-US" smtClean="0"/>
              <a:t>‹#›</a:t>
            </a:fld>
            <a:endParaRPr lang="zh-CN" altLang="en-US"/>
          </a:p>
        </p:txBody>
      </p:sp>
    </p:spTree>
    <p:extLst>
      <p:ext uri="{BB962C8B-B14F-4D97-AF65-F5344CB8AC3E}">
        <p14:creationId xmlns:p14="http://schemas.microsoft.com/office/powerpoint/2010/main" val="1591012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181F21-E892-4268-9761-8B721DB5241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C3578C9-B5C9-4B45-A46E-73885B1F67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3BA79E3-8AD8-45C7-AEC9-CAAC59E2AF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A8CE02F-5EA3-4DA5-B6F1-A5C4F1767D07}"/>
              </a:ext>
            </a:extLst>
          </p:cNvPr>
          <p:cNvSpPr>
            <a:spLocks noGrp="1"/>
          </p:cNvSpPr>
          <p:nvPr>
            <p:ph type="dt" sz="half" idx="10"/>
          </p:nvPr>
        </p:nvSpPr>
        <p:spPr/>
        <p:txBody>
          <a:bodyPr/>
          <a:lstStyle/>
          <a:p>
            <a:fld id="{0EF10FB5-A824-4858-86DC-39E58DB3B991}" type="datetimeFigureOut">
              <a:rPr lang="zh-CN" altLang="en-US" smtClean="0"/>
              <a:t>2024/6/13</a:t>
            </a:fld>
            <a:endParaRPr lang="zh-CN" altLang="en-US"/>
          </a:p>
        </p:txBody>
      </p:sp>
      <p:sp>
        <p:nvSpPr>
          <p:cNvPr id="6" name="页脚占位符 5">
            <a:extLst>
              <a:ext uri="{FF2B5EF4-FFF2-40B4-BE49-F238E27FC236}">
                <a16:creationId xmlns:a16="http://schemas.microsoft.com/office/drawing/2014/main" id="{75FDDD75-9EED-49C2-9B01-CBB034188A9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78E765E-DA8C-49A3-9A87-B763617F9942}"/>
              </a:ext>
            </a:extLst>
          </p:cNvPr>
          <p:cNvSpPr>
            <a:spLocks noGrp="1"/>
          </p:cNvSpPr>
          <p:nvPr>
            <p:ph type="sldNum" sz="quarter" idx="12"/>
          </p:nvPr>
        </p:nvSpPr>
        <p:spPr/>
        <p:txBody>
          <a:bodyPr/>
          <a:lstStyle/>
          <a:p>
            <a:fld id="{D3903263-1833-405E-89E8-EE292DEE5636}" type="slidenum">
              <a:rPr lang="zh-CN" altLang="en-US" smtClean="0"/>
              <a:t>‹#›</a:t>
            </a:fld>
            <a:endParaRPr lang="zh-CN" altLang="en-US"/>
          </a:p>
        </p:txBody>
      </p:sp>
    </p:spTree>
    <p:extLst>
      <p:ext uri="{BB962C8B-B14F-4D97-AF65-F5344CB8AC3E}">
        <p14:creationId xmlns:p14="http://schemas.microsoft.com/office/powerpoint/2010/main" val="1389189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1574D-8E84-42E4-B08B-686CEDE454B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771BBE8-6713-41E0-9D68-2E38BA012AF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9CC0434-3332-40BC-A459-29CB3F5534BC}"/>
              </a:ext>
            </a:extLst>
          </p:cNvPr>
          <p:cNvSpPr>
            <a:spLocks noGrp="1"/>
          </p:cNvSpPr>
          <p:nvPr>
            <p:ph type="dt" sz="half" idx="10"/>
          </p:nvPr>
        </p:nvSpPr>
        <p:spPr/>
        <p:txBody>
          <a:bodyPr/>
          <a:lstStyle/>
          <a:p>
            <a:fld id="{0EF10FB5-A824-4858-86DC-39E58DB3B991}" type="datetimeFigureOut">
              <a:rPr lang="zh-CN" altLang="en-US" smtClean="0"/>
              <a:t>2024/6/13</a:t>
            </a:fld>
            <a:endParaRPr lang="zh-CN" altLang="en-US"/>
          </a:p>
        </p:txBody>
      </p:sp>
      <p:sp>
        <p:nvSpPr>
          <p:cNvPr id="5" name="页脚占位符 4">
            <a:extLst>
              <a:ext uri="{FF2B5EF4-FFF2-40B4-BE49-F238E27FC236}">
                <a16:creationId xmlns:a16="http://schemas.microsoft.com/office/drawing/2014/main" id="{0F8D0FCA-5BC6-4ECF-AA7B-3721508AE3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BC705DE-8B7B-48AB-AC3D-8E14FBC9AFB9}"/>
              </a:ext>
            </a:extLst>
          </p:cNvPr>
          <p:cNvSpPr>
            <a:spLocks noGrp="1"/>
          </p:cNvSpPr>
          <p:nvPr>
            <p:ph type="sldNum" sz="quarter" idx="12"/>
          </p:nvPr>
        </p:nvSpPr>
        <p:spPr/>
        <p:txBody>
          <a:bodyPr/>
          <a:lstStyle/>
          <a:p>
            <a:fld id="{D3903263-1833-405E-89E8-EE292DEE5636}" type="slidenum">
              <a:rPr lang="zh-CN" altLang="en-US" smtClean="0"/>
              <a:t>‹#›</a:t>
            </a:fld>
            <a:endParaRPr lang="zh-CN" altLang="en-US"/>
          </a:p>
        </p:txBody>
      </p:sp>
    </p:spTree>
    <p:extLst>
      <p:ext uri="{BB962C8B-B14F-4D97-AF65-F5344CB8AC3E}">
        <p14:creationId xmlns:p14="http://schemas.microsoft.com/office/powerpoint/2010/main" val="2616840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BFDDD18-E89B-4A01-94D6-B8C312FB639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038D91F-7DC9-4F29-9A94-634247B018C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E5C0E00-41CF-4DA2-8050-2BA8EC7E7C55}"/>
              </a:ext>
            </a:extLst>
          </p:cNvPr>
          <p:cNvSpPr>
            <a:spLocks noGrp="1"/>
          </p:cNvSpPr>
          <p:nvPr>
            <p:ph type="dt" sz="half" idx="10"/>
          </p:nvPr>
        </p:nvSpPr>
        <p:spPr/>
        <p:txBody>
          <a:bodyPr/>
          <a:lstStyle/>
          <a:p>
            <a:fld id="{0EF10FB5-A824-4858-86DC-39E58DB3B991}" type="datetimeFigureOut">
              <a:rPr lang="zh-CN" altLang="en-US" smtClean="0"/>
              <a:t>2024/6/13</a:t>
            </a:fld>
            <a:endParaRPr lang="zh-CN" altLang="en-US"/>
          </a:p>
        </p:txBody>
      </p:sp>
      <p:sp>
        <p:nvSpPr>
          <p:cNvPr id="5" name="页脚占位符 4">
            <a:extLst>
              <a:ext uri="{FF2B5EF4-FFF2-40B4-BE49-F238E27FC236}">
                <a16:creationId xmlns:a16="http://schemas.microsoft.com/office/drawing/2014/main" id="{B7933E54-809C-4A81-98C4-35976418198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120E95A-4670-442D-B6D5-8A932BBA2B0F}"/>
              </a:ext>
            </a:extLst>
          </p:cNvPr>
          <p:cNvSpPr>
            <a:spLocks noGrp="1"/>
          </p:cNvSpPr>
          <p:nvPr>
            <p:ph type="sldNum" sz="quarter" idx="12"/>
          </p:nvPr>
        </p:nvSpPr>
        <p:spPr/>
        <p:txBody>
          <a:bodyPr/>
          <a:lstStyle/>
          <a:p>
            <a:fld id="{D3903263-1833-405E-89E8-EE292DEE5636}" type="slidenum">
              <a:rPr lang="zh-CN" altLang="en-US" smtClean="0"/>
              <a:t>‹#›</a:t>
            </a:fld>
            <a:endParaRPr lang="zh-CN" altLang="en-US"/>
          </a:p>
        </p:txBody>
      </p:sp>
    </p:spTree>
    <p:extLst>
      <p:ext uri="{BB962C8B-B14F-4D97-AF65-F5344CB8AC3E}">
        <p14:creationId xmlns:p14="http://schemas.microsoft.com/office/powerpoint/2010/main" val="872554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2ADBC72-7C0A-484E-B831-46FA8C91E9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F27DB96-13BF-43C8-A8DA-51A6B0C26C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9A33FB6-CF8A-4555-8BCA-0A93D441EA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F10FB5-A824-4858-86DC-39E58DB3B991}" type="datetimeFigureOut">
              <a:rPr lang="zh-CN" altLang="en-US" smtClean="0"/>
              <a:t>2024/6/13</a:t>
            </a:fld>
            <a:endParaRPr lang="zh-CN" altLang="en-US"/>
          </a:p>
        </p:txBody>
      </p:sp>
      <p:sp>
        <p:nvSpPr>
          <p:cNvPr id="5" name="页脚占位符 4">
            <a:extLst>
              <a:ext uri="{FF2B5EF4-FFF2-40B4-BE49-F238E27FC236}">
                <a16:creationId xmlns:a16="http://schemas.microsoft.com/office/drawing/2014/main" id="{CE669C5F-1BDF-410F-8847-32792A8BE5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8F5C922-45F1-4237-8DDF-3DE8D2A519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903263-1833-405E-89E8-EE292DEE5636}" type="slidenum">
              <a:rPr lang="zh-CN" altLang="en-US" smtClean="0"/>
              <a:t>‹#›</a:t>
            </a:fld>
            <a:endParaRPr lang="zh-CN" altLang="en-US"/>
          </a:p>
        </p:txBody>
      </p:sp>
    </p:spTree>
    <p:extLst>
      <p:ext uri="{BB962C8B-B14F-4D97-AF65-F5344CB8AC3E}">
        <p14:creationId xmlns:p14="http://schemas.microsoft.com/office/powerpoint/2010/main" val="36641694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DBAE83-63E7-4EA6-A744-74CE649C9235}"/>
              </a:ext>
            </a:extLst>
          </p:cNvPr>
          <p:cNvSpPr>
            <a:spLocks noGrp="1"/>
          </p:cNvSpPr>
          <p:nvPr>
            <p:ph type="ctrTitle"/>
          </p:nvPr>
        </p:nvSpPr>
        <p:spPr/>
        <p:txBody>
          <a:bodyPr/>
          <a:lstStyle/>
          <a:p>
            <a:r>
              <a:rPr lang="en-US" altLang="zh-CN" dirty="0" err="1"/>
              <a:t>DataFrame</a:t>
            </a:r>
            <a:r>
              <a:rPr lang="en-US" altLang="zh-CN" dirty="0"/>
              <a:t>-Arrow</a:t>
            </a:r>
            <a:r>
              <a:rPr lang="zh-CN" altLang="en-US" dirty="0"/>
              <a:t>转换与通信优化测试</a:t>
            </a:r>
          </a:p>
        </p:txBody>
      </p:sp>
      <p:sp>
        <p:nvSpPr>
          <p:cNvPr id="3" name="副标题 2">
            <a:extLst>
              <a:ext uri="{FF2B5EF4-FFF2-40B4-BE49-F238E27FC236}">
                <a16:creationId xmlns:a16="http://schemas.microsoft.com/office/drawing/2014/main" id="{B81BDB57-D342-484E-B09E-6109CCB191C7}"/>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80250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965230-ECDA-45AE-8557-E23580348ED2}"/>
              </a:ext>
            </a:extLst>
          </p:cNvPr>
          <p:cNvSpPr>
            <a:spLocks noGrp="1"/>
          </p:cNvSpPr>
          <p:nvPr>
            <p:ph type="title"/>
          </p:nvPr>
        </p:nvSpPr>
        <p:spPr/>
        <p:txBody>
          <a:bodyPr/>
          <a:lstStyle/>
          <a:p>
            <a:r>
              <a:rPr lang="zh-CN" altLang="en-US" dirty="0"/>
              <a:t>为什么使用</a:t>
            </a:r>
            <a:r>
              <a:rPr lang="en-US" altLang="zh-CN" dirty="0"/>
              <a:t>Arrow</a:t>
            </a:r>
            <a:endParaRPr lang="zh-CN" altLang="en-US" dirty="0"/>
          </a:p>
        </p:txBody>
      </p:sp>
      <p:sp>
        <p:nvSpPr>
          <p:cNvPr id="3" name="内容占位符 2">
            <a:extLst>
              <a:ext uri="{FF2B5EF4-FFF2-40B4-BE49-F238E27FC236}">
                <a16:creationId xmlns:a16="http://schemas.microsoft.com/office/drawing/2014/main" id="{F00B8C82-B5B5-45EF-85AD-437BD05068B0}"/>
              </a:ext>
            </a:extLst>
          </p:cNvPr>
          <p:cNvSpPr>
            <a:spLocks noGrp="1"/>
          </p:cNvSpPr>
          <p:nvPr>
            <p:ph idx="1"/>
          </p:nvPr>
        </p:nvSpPr>
        <p:spPr/>
        <p:txBody>
          <a:bodyPr/>
          <a:lstStyle/>
          <a:p>
            <a:r>
              <a:rPr lang="en-US" altLang="zh-CN" dirty="0"/>
              <a:t>Spark RDD </a:t>
            </a:r>
            <a:r>
              <a:rPr lang="en-US" altLang="zh-CN" dirty="0" err="1"/>
              <a:t>DataFrame</a:t>
            </a:r>
            <a:r>
              <a:rPr lang="zh-CN" altLang="en-US" dirty="0"/>
              <a:t>在</a:t>
            </a:r>
            <a:r>
              <a:rPr lang="en-US" altLang="zh-CN" dirty="0"/>
              <a:t>JVM</a:t>
            </a:r>
            <a:r>
              <a:rPr lang="zh-CN" altLang="en-US" dirty="0"/>
              <a:t>上运行，基于</a:t>
            </a:r>
            <a:r>
              <a:rPr lang="en-US" altLang="zh-CN" dirty="0"/>
              <a:t>JVM</a:t>
            </a:r>
            <a:r>
              <a:rPr lang="zh-CN" altLang="en-US" dirty="0"/>
              <a:t>的内存表示，在</a:t>
            </a:r>
            <a:r>
              <a:rPr lang="en-US" altLang="zh-CN" dirty="0"/>
              <a:t>Spark</a:t>
            </a:r>
            <a:r>
              <a:rPr lang="zh-CN" altLang="en-US" dirty="0"/>
              <a:t>生态内部传输较快，但在跨语言时往往需要复杂的转换使得传输变慢。</a:t>
            </a:r>
            <a:endParaRPr lang="en-US" altLang="zh-CN" dirty="0"/>
          </a:p>
          <a:p>
            <a:r>
              <a:rPr lang="en-US" altLang="zh-CN" dirty="0"/>
              <a:t>Apache Arrow</a:t>
            </a:r>
            <a:r>
              <a:rPr lang="zh-CN" altLang="en-US" dirty="0"/>
              <a:t>是标准化的、与语言无关的列式内存格式，用于跨语言的内存数据开发，还提供计算库以及零拷贝的流消息和进程间通信。针对</a:t>
            </a:r>
            <a:r>
              <a:rPr lang="en-US" altLang="zh-CN" dirty="0"/>
              <a:t>Spark </a:t>
            </a:r>
            <a:r>
              <a:rPr lang="zh-CN" altLang="en-US" dirty="0"/>
              <a:t>在 </a:t>
            </a:r>
            <a:r>
              <a:rPr lang="en-US" altLang="zh-CN" dirty="0"/>
              <a:t>Python </a:t>
            </a:r>
            <a:r>
              <a:rPr lang="zh-CN" altLang="en-US" dirty="0"/>
              <a:t>和 </a:t>
            </a:r>
            <a:r>
              <a:rPr lang="en-US" altLang="zh-CN" dirty="0"/>
              <a:t>JVM </a:t>
            </a:r>
            <a:r>
              <a:rPr lang="zh-CN" altLang="en-US" dirty="0"/>
              <a:t>之间以及跨节点间大量数据传输的现实场景，将</a:t>
            </a:r>
            <a:r>
              <a:rPr lang="en-US" altLang="zh-CN" dirty="0"/>
              <a:t>Arrow</a:t>
            </a:r>
            <a:r>
              <a:rPr lang="zh-CN" altLang="en-US" dirty="0"/>
              <a:t>作为中介进行传输是非常合适的选择</a:t>
            </a:r>
          </a:p>
        </p:txBody>
      </p:sp>
    </p:spTree>
    <p:extLst>
      <p:ext uri="{BB962C8B-B14F-4D97-AF65-F5344CB8AC3E}">
        <p14:creationId xmlns:p14="http://schemas.microsoft.com/office/powerpoint/2010/main" val="2952958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B04208-9EA9-4BAC-A64F-A9C955CD3D48}"/>
              </a:ext>
            </a:extLst>
          </p:cNvPr>
          <p:cNvSpPr>
            <a:spLocks noGrp="1"/>
          </p:cNvSpPr>
          <p:nvPr>
            <p:ph type="title"/>
          </p:nvPr>
        </p:nvSpPr>
        <p:spPr/>
        <p:txBody>
          <a:bodyPr>
            <a:normAutofit fontScale="90000"/>
          </a:bodyPr>
          <a:lstStyle/>
          <a:p>
            <a:r>
              <a:rPr lang="zh-CN" altLang="en-US" dirty="0"/>
              <a:t>跨语言传输：</a:t>
            </a:r>
            <a:r>
              <a:rPr lang="en-US" altLang="zh-CN" dirty="0"/>
              <a:t>Pandas </a:t>
            </a:r>
            <a:r>
              <a:rPr lang="en-US" altLang="zh-CN" dirty="0" err="1"/>
              <a:t>Dataframe</a:t>
            </a:r>
            <a:r>
              <a:rPr lang="zh-CN" altLang="en-US" dirty="0"/>
              <a:t>与</a:t>
            </a:r>
            <a:r>
              <a:rPr lang="en-US" altLang="zh-CN" dirty="0"/>
              <a:t>RDD </a:t>
            </a:r>
            <a:r>
              <a:rPr lang="en-US" altLang="zh-CN" dirty="0" err="1"/>
              <a:t>Dataframe</a:t>
            </a:r>
            <a:r>
              <a:rPr lang="zh-CN" altLang="en-US" dirty="0"/>
              <a:t>转换在使用</a:t>
            </a:r>
            <a:r>
              <a:rPr lang="en-US" altLang="zh-CN" dirty="0"/>
              <a:t>Arrow</a:t>
            </a:r>
            <a:r>
              <a:rPr lang="zh-CN" altLang="en-US" dirty="0"/>
              <a:t>优化时的时间对比</a:t>
            </a:r>
          </a:p>
        </p:txBody>
      </p:sp>
      <p:sp>
        <p:nvSpPr>
          <p:cNvPr id="3" name="内容占位符 2">
            <a:extLst>
              <a:ext uri="{FF2B5EF4-FFF2-40B4-BE49-F238E27FC236}">
                <a16:creationId xmlns:a16="http://schemas.microsoft.com/office/drawing/2014/main" id="{6969A4C6-E7B2-4F78-94FF-7841FF7FD7C6}"/>
              </a:ext>
            </a:extLst>
          </p:cNvPr>
          <p:cNvSpPr>
            <a:spLocks noGrp="1"/>
          </p:cNvSpPr>
          <p:nvPr>
            <p:ph idx="1"/>
          </p:nvPr>
        </p:nvSpPr>
        <p:spPr/>
        <p:txBody>
          <a:bodyPr>
            <a:normAutofit/>
          </a:bodyPr>
          <a:lstStyle/>
          <a:p>
            <a:r>
              <a:rPr lang="en-US" altLang="zh-CN" dirty="0"/>
              <a:t>Pandas</a:t>
            </a:r>
            <a:r>
              <a:rPr lang="zh-CN" altLang="en-US" dirty="0"/>
              <a:t>→</a:t>
            </a:r>
            <a:r>
              <a:rPr lang="en-US" altLang="zh-CN" dirty="0"/>
              <a:t>RDD 100000*3</a:t>
            </a:r>
            <a:r>
              <a:rPr lang="zh-CN" altLang="en-US" dirty="0"/>
              <a:t>的</a:t>
            </a:r>
            <a:r>
              <a:rPr lang="en-US" altLang="zh-CN" dirty="0" err="1"/>
              <a:t>nparray</a:t>
            </a:r>
            <a:endParaRPr lang="en-US" altLang="zh-CN" dirty="0"/>
          </a:p>
          <a:p>
            <a:r>
              <a:rPr lang="en-US" altLang="zh-CN" dirty="0"/>
              <a:t>RDD</a:t>
            </a:r>
            <a:r>
              <a:rPr lang="zh-CN" altLang="en-US" dirty="0"/>
              <a:t>→</a:t>
            </a:r>
            <a:r>
              <a:rPr lang="en-US" altLang="zh-CN" dirty="0"/>
              <a:t> Pandas 3*2</a:t>
            </a:r>
            <a:r>
              <a:rPr lang="zh-CN" altLang="en-US" dirty="0"/>
              <a:t>的字典</a:t>
            </a:r>
            <a:endParaRPr lang="en-US" altLang="zh-CN" dirty="0"/>
          </a:p>
          <a:p>
            <a:r>
              <a:rPr lang="zh-CN" altLang="en-US" dirty="0"/>
              <a:t>开启优化 </a:t>
            </a:r>
            <a:endParaRPr lang="en-US" altLang="zh-CN" dirty="0"/>
          </a:p>
          <a:p>
            <a:pPr lvl="2"/>
            <a:r>
              <a:rPr lang="en-US" altLang="zh-CN" dirty="0" err="1"/>
              <a:t>spark.conf.set</a:t>
            </a:r>
            <a:r>
              <a:rPr lang="en-US" altLang="zh-CN" dirty="0"/>
              <a:t>("</a:t>
            </a:r>
            <a:r>
              <a:rPr lang="en-US" altLang="zh-CN" dirty="0" err="1"/>
              <a:t>spark.sql.execution.arrow.enabled</a:t>
            </a:r>
            <a:r>
              <a:rPr lang="en-US" altLang="zh-CN" dirty="0"/>
              <a:t>", "true")</a:t>
            </a:r>
          </a:p>
          <a:p>
            <a:endParaRPr lang="zh-CN" altLang="en-US" dirty="0"/>
          </a:p>
        </p:txBody>
      </p:sp>
      <p:pic>
        <p:nvPicPr>
          <p:cNvPr id="14" name="图片 13">
            <a:extLst>
              <a:ext uri="{FF2B5EF4-FFF2-40B4-BE49-F238E27FC236}">
                <a16:creationId xmlns:a16="http://schemas.microsoft.com/office/drawing/2014/main" id="{C23855F3-6528-4EFD-BE16-94D63D420C66}"/>
              </a:ext>
            </a:extLst>
          </p:cNvPr>
          <p:cNvPicPr>
            <a:picLocks noChangeAspect="1"/>
          </p:cNvPicPr>
          <p:nvPr/>
        </p:nvPicPr>
        <p:blipFill>
          <a:blip r:embed="rId2"/>
          <a:stretch>
            <a:fillRect/>
          </a:stretch>
        </p:blipFill>
        <p:spPr>
          <a:xfrm>
            <a:off x="1384276" y="4800313"/>
            <a:ext cx="7916380" cy="2057687"/>
          </a:xfrm>
          <a:prstGeom prst="rect">
            <a:avLst/>
          </a:prstGeom>
        </p:spPr>
      </p:pic>
      <p:graphicFrame>
        <p:nvGraphicFramePr>
          <p:cNvPr id="15" name="表格 15">
            <a:extLst>
              <a:ext uri="{FF2B5EF4-FFF2-40B4-BE49-F238E27FC236}">
                <a16:creationId xmlns:a16="http://schemas.microsoft.com/office/drawing/2014/main" id="{BFB88A9E-2B02-4F39-ADBF-0B417D44E0B5}"/>
              </a:ext>
            </a:extLst>
          </p:cNvPr>
          <p:cNvGraphicFramePr>
            <a:graphicFrameLocks noGrp="1"/>
          </p:cNvGraphicFramePr>
          <p:nvPr>
            <p:extLst>
              <p:ext uri="{D42A27DB-BD31-4B8C-83A1-F6EECF244321}">
                <p14:modId xmlns:p14="http://schemas.microsoft.com/office/powerpoint/2010/main" val="1921037170"/>
              </p:ext>
            </p:extLst>
          </p:nvPr>
        </p:nvGraphicFramePr>
        <p:xfrm>
          <a:off x="1384276" y="3644054"/>
          <a:ext cx="8128000" cy="11125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436080016"/>
                    </a:ext>
                  </a:extLst>
                </a:gridCol>
                <a:gridCol w="2032000">
                  <a:extLst>
                    <a:ext uri="{9D8B030D-6E8A-4147-A177-3AD203B41FA5}">
                      <a16:colId xmlns:a16="http://schemas.microsoft.com/office/drawing/2014/main" val="851776313"/>
                    </a:ext>
                  </a:extLst>
                </a:gridCol>
                <a:gridCol w="2032000">
                  <a:extLst>
                    <a:ext uri="{9D8B030D-6E8A-4147-A177-3AD203B41FA5}">
                      <a16:colId xmlns:a16="http://schemas.microsoft.com/office/drawing/2014/main" val="2494562945"/>
                    </a:ext>
                  </a:extLst>
                </a:gridCol>
                <a:gridCol w="2032000">
                  <a:extLst>
                    <a:ext uri="{9D8B030D-6E8A-4147-A177-3AD203B41FA5}">
                      <a16:colId xmlns:a16="http://schemas.microsoft.com/office/drawing/2014/main" val="2824723784"/>
                    </a:ext>
                  </a:extLst>
                </a:gridCol>
              </a:tblGrid>
              <a:tr h="370840">
                <a:tc>
                  <a:txBody>
                    <a:bodyPr/>
                    <a:lstStyle/>
                    <a:p>
                      <a:endParaRPr lang="zh-CN" altLang="en-US"/>
                    </a:p>
                  </a:txBody>
                  <a:tcPr/>
                </a:tc>
                <a:tc>
                  <a:txBody>
                    <a:bodyPr/>
                    <a:lstStyle/>
                    <a:p>
                      <a:r>
                        <a:rPr lang="zh-CN" altLang="en-US" dirty="0"/>
                        <a:t>默认</a:t>
                      </a:r>
                      <a:r>
                        <a:rPr lang="en-US" altLang="zh-CN" dirty="0"/>
                        <a:t>(s)</a:t>
                      </a:r>
                      <a:endParaRPr lang="zh-CN" altLang="en-US" dirty="0"/>
                    </a:p>
                  </a:txBody>
                  <a:tcPr/>
                </a:tc>
                <a:tc>
                  <a:txBody>
                    <a:bodyPr/>
                    <a:lstStyle/>
                    <a:p>
                      <a:r>
                        <a:rPr lang="zh-CN" altLang="en-US" dirty="0"/>
                        <a:t>开启优化</a:t>
                      </a:r>
                      <a:r>
                        <a:rPr lang="en-US" altLang="zh-CN" dirty="0"/>
                        <a:t>(s)</a:t>
                      </a:r>
                      <a:endParaRPr lang="zh-CN" altLang="en-US" dirty="0"/>
                    </a:p>
                  </a:txBody>
                  <a:tcPr/>
                </a:tc>
                <a:tc>
                  <a:txBody>
                    <a:bodyPr/>
                    <a:lstStyle/>
                    <a:p>
                      <a:r>
                        <a:rPr lang="zh-CN" altLang="en-US" dirty="0"/>
                        <a:t>降低</a:t>
                      </a:r>
                    </a:p>
                  </a:txBody>
                  <a:tcPr/>
                </a:tc>
                <a:extLst>
                  <a:ext uri="{0D108BD9-81ED-4DB2-BD59-A6C34878D82A}">
                    <a16:rowId xmlns:a16="http://schemas.microsoft.com/office/drawing/2014/main" val="1308423337"/>
                  </a:ext>
                </a:extLst>
              </a:tr>
              <a:tr h="370840">
                <a:tc>
                  <a:txBody>
                    <a:bodyPr/>
                    <a:lstStyle/>
                    <a:p>
                      <a:r>
                        <a:rPr lang="en-US" altLang="zh-CN" dirty="0"/>
                        <a:t>Pandas</a:t>
                      </a:r>
                      <a:r>
                        <a:rPr lang="zh-CN" altLang="en-US" dirty="0"/>
                        <a:t>→</a:t>
                      </a:r>
                      <a:r>
                        <a:rPr lang="en-US" altLang="zh-CN" dirty="0"/>
                        <a:t>Spark</a:t>
                      </a:r>
                      <a:endParaRPr lang="zh-CN" altLang="en-US" dirty="0"/>
                    </a:p>
                  </a:txBody>
                  <a:tcPr/>
                </a:tc>
                <a:tc>
                  <a:txBody>
                    <a:bodyPr/>
                    <a:lstStyle/>
                    <a:p>
                      <a:r>
                        <a:rPr lang="en-US" altLang="zh-CN" dirty="0"/>
                        <a:t>3.36s</a:t>
                      </a:r>
                      <a:endParaRPr lang="zh-CN" altLang="en-US" dirty="0"/>
                    </a:p>
                  </a:txBody>
                  <a:tcPr/>
                </a:tc>
                <a:tc>
                  <a:txBody>
                    <a:bodyPr/>
                    <a:lstStyle/>
                    <a:p>
                      <a:r>
                        <a:rPr lang="en-US" altLang="zh-CN" dirty="0"/>
                        <a:t>0.42s</a:t>
                      </a:r>
                      <a:endParaRPr lang="zh-CN" altLang="en-US" dirty="0"/>
                    </a:p>
                  </a:txBody>
                  <a:tcPr/>
                </a:tc>
                <a:tc>
                  <a:txBody>
                    <a:bodyPr/>
                    <a:lstStyle/>
                    <a:p>
                      <a:r>
                        <a:rPr lang="en-US" altLang="zh-CN" dirty="0"/>
                        <a:t>87.5%</a:t>
                      </a:r>
                      <a:endParaRPr lang="zh-CN" altLang="en-US" dirty="0"/>
                    </a:p>
                  </a:txBody>
                  <a:tcPr/>
                </a:tc>
                <a:extLst>
                  <a:ext uri="{0D108BD9-81ED-4DB2-BD59-A6C34878D82A}">
                    <a16:rowId xmlns:a16="http://schemas.microsoft.com/office/drawing/2014/main" val="2908348738"/>
                  </a:ext>
                </a:extLst>
              </a:tr>
              <a:tr h="370840">
                <a:tc>
                  <a:txBody>
                    <a:bodyPr/>
                    <a:lstStyle/>
                    <a:p>
                      <a:r>
                        <a:rPr lang="en-US" altLang="zh-CN" dirty="0"/>
                        <a:t>Spark</a:t>
                      </a:r>
                      <a:r>
                        <a:rPr lang="zh-CN" altLang="en-US" dirty="0"/>
                        <a:t>→</a:t>
                      </a:r>
                      <a:r>
                        <a:rPr lang="en-US" altLang="zh-CN" dirty="0"/>
                        <a:t> Pandas </a:t>
                      </a:r>
                      <a:endParaRPr lang="zh-CN" altLang="en-US" dirty="0"/>
                    </a:p>
                  </a:txBody>
                  <a:tcPr/>
                </a:tc>
                <a:tc>
                  <a:txBody>
                    <a:bodyPr/>
                    <a:lstStyle/>
                    <a:p>
                      <a:r>
                        <a:rPr lang="en-US" altLang="zh-CN" dirty="0"/>
                        <a:t>8.65s</a:t>
                      </a:r>
                      <a:endParaRPr lang="zh-CN" altLang="en-US" dirty="0"/>
                    </a:p>
                  </a:txBody>
                  <a:tcPr/>
                </a:tc>
                <a:tc>
                  <a:txBody>
                    <a:bodyPr/>
                    <a:lstStyle/>
                    <a:p>
                      <a:r>
                        <a:rPr lang="en-US" altLang="zh-CN" dirty="0"/>
                        <a:t>7.83s</a:t>
                      </a:r>
                      <a:endParaRPr lang="zh-CN" altLang="en-US" dirty="0"/>
                    </a:p>
                  </a:txBody>
                  <a:tcPr/>
                </a:tc>
                <a:tc>
                  <a:txBody>
                    <a:bodyPr/>
                    <a:lstStyle/>
                    <a:p>
                      <a:r>
                        <a:rPr lang="en-US" altLang="zh-CN" dirty="0"/>
                        <a:t>9.5%</a:t>
                      </a:r>
                      <a:endParaRPr lang="zh-CN" altLang="en-US" dirty="0"/>
                    </a:p>
                  </a:txBody>
                  <a:tcPr/>
                </a:tc>
                <a:extLst>
                  <a:ext uri="{0D108BD9-81ED-4DB2-BD59-A6C34878D82A}">
                    <a16:rowId xmlns:a16="http://schemas.microsoft.com/office/drawing/2014/main" val="2845535628"/>
                  </a:ext>
                </a:extLst>
              </a:tr>
            </a:tbl>
          </a:graphicData>
        </a:graphic>
      </p:graphicFrame>
    </p:spTree>
    <p:extLst>
      <p:ext uri="{BB962C8B-B14F-4D97-AF65-F5344CB8AC3E}">
        <p14:creationId xmlns:p14="http://schemas.microsoft.com/office/powerpoint/2010/main" val="2914402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2235F0-E289-487D-A2E9-17F2BFD477D9}"/>
              </a:ext>
            </a:extLst>
          </p:cNvPr>
          <p:cNvSpPr>
            <a:spLocks noGrp="1"/>
          </p:cNvSpPr>
          <p:nvPr>
            <p:ph type="title"/>
          </p:nvPr>
        </p:nvSpPr>
        <p:spPr/>
        <p:txBody>
          <a:bodyPr/>
          <a:lstStyle/>
          <a:p>
            <a:r>
              <a:rPr lang="zh-CN" altLang="en-US" dirty="0"/>
              <a:t>跨节点传输：将传输文件持久化存储后传输</a:t>
            </a:r>
          </a:p>
        </p:txBody>
      </p:sp>
      <p:sp>
        <p:nvSpPr>
          <p:cNvPr id="3" name="内容占位符 2">
            <a:extLst>
              <a:ext uri="{FF2B5EF4-FFF2-40B4-BE49-F238E27FC236}">
                <a16:creationId xmlns:a16="http://schemas.microsoft.com/office/drawing/2014/main" id="{1C27F0A8-BCD6-4889-9B50-72623B05EE59}"/>
              </a:ext>
            </a:extLst>
          </p:cNvPr>
          <p:cNvSpPr>
            <a:spLocks noGrp="1"/>
          </p:cNvSpPr>
          <p:nvPr>
            <p:ph idx="1"/>
          </p:nvPr>
        </p:nvSpPr>
        <p:spPr/>
        <p:txBody>
          <a:bodyPr/>
          <a:lstStyle/>
          <a:p>
            <a:pPr lvl="1"/>
            <a:r>
              <a:rPr lang="en-US" altLang="zh-CN" dirty="0"/>
              <a:t>100000*3</a:t>
            </a:r>
            <a:r>
              <a:rPr lang="zh-CN" altLang="en-US" dirty="0"/>
              <a:t>的</a:t>
            </a:r>
            <a:r>
              <a:rPr lang="en-US" altLang="zh-CN" dirty="0" err="1"/>
              <a:t>DataFrame</a:t>
            </a:r>
            <a:endParaRPr lang="zh-CN" altLang="en-US" dirty="0"/>
          </a:p>
        </p:txBody>
      </p:sp>
      <p:pic>
        <p:nvPicPr>
          <p:cNvPr id="7" name="图片 6">
            <a:extLst>
              <a:ext uri="{FF2B5EF4-FFF2-40B4-BE49-F238E27FC236}">
                <a16:creationId xmlns:a16="http://schemas.microsoft.com/office/drawing/2014/main" id="{05601657-C1D6-43BA-AC7D-DECF26D2E432}"/>
              </a:ext>
            </a:extLst>
          </p:cNvPr>
          <p:cNvPicPr>
            <a:picLocks noChangeAspect="1"/>
          </p:cNvPicPr>
          <p:nvPr/>
        </p:nvPicPr>
        <p:blipFill>
          <a:blip r:embed="rId2"/>
          <a:stretch>
            <a:fillRect/>
          </a:stretch>
        </p:blipFill>
        <p:spPr>
          <a:xfrm>
            <a:off x="2073297" y="4458669"/>
            <a:ext cx="7249537" cy="1276528"/>
          </a:xfrm>
          <a:prstGeom prst="rect">
            <a:avLst/>
          </a:prstGeom>
        </p:spPr>
      </p:pic>
      <p:graphicFrame>
        <p:nvGraphicFramePr>
          <p:cNvPr id="8" name="表格 8">
            <a:extLst>
              <a:ext uri="{FF2B5EF4-FFF2-40B4-BE49-F238E27FC236}">
                <a16:creationId xmlns:a16="http://schemas.microsoft.com/office/drawing/2014/main" id="{2F111C41-B19D-4BC2-ABAB-A6DE84F7D1DF}"/>
              </a:ext>
            </a:extLst>
          </p:cNvPr>
          <p:cNvGraphicFramePr>
            <a:graphicFrameLocks noGrp="1"/>
          </p:cNvGraphicFramePr>
          <p:nvPr>
            <p:extLst>
              <p:ext uri="{D42A27DB-BD31-4B8C-83A1-F6EECF244321}">
                <p14:modId xmlns:p14="http://schemas.microsoft.com/office/powerpoint/2010/main" val="1110670051"/>
              </p:ext>
            </p:extLst>
          </p:nvPr>
        </p:nvGraphicFramePr>
        <p:xfrm>
          <a:off x="1482702" y="2399332"/>
          <a:ext cx="8127999" cy="1515256"/>
        </p:xfrm>
        <a:graphic>
          <a:graphicData uri="http://schemas.openxmlformats.org/drawingml/2006/table">
            <a:tbl>
              <a:tblPr firstRow="1" bandRow="1">
                <a:tableStyleId>{5C22544A-7EE6-4342-B048-85BDC9FD1C3A}</a:tableStyleId>
              </a:tblPr>
              <a:tblGrid>
                <a:gridCol w="3241698">
                  <a:extLst>
                    <a:ext uri="{9D8B030D-6E8A-4147-A177-3AD203B41FA5}">
                      <a16:colId xmlns:a16="http://schemas.microsoft.com/office/drawing/2014/main" val="3757105041"/>
                    </a:ext>
                  </a:extLst>
                </a:gridCol>
                <a:gridCol w="2176968">
                  <a:extLst>
                    <a:ext uri="{9D8B030D-6E8A-4147-A177-3AD203B41FA5}">
                      <a16:colId xmlns:a16="http://schemas.microsoft.com/office/drawing/2014/main" val="2851772930"/>
                    </a:ext>
                  </a:extLst>
                </a:gridCol>
                <a:gridCol w="2709333">
                  <a:extLst>
                    <a:ext uri="{9D8B030D-6E8A-4147-A177-3AD203B41FA5}">
                      <a16:colId xmlns:a16="http://schemas.microsoft.com/office/drawing/2014/main" val="699689979"/>
                    </a:ext>
                  </a:extLst>
                </a:gridCol>
              </a:tblGrid>
              <a:tr h="325253">
                <a:tc>
                  <a:txBody>
                    <a:bodyPr/>
                    <a:lstStyle/>
                    <a:p>
                      <a:endParaRPr lang="zh-CN" altLang="en-US" dirty="0"/>
                    </a:p>
                  </a:txBody>
                  <a:tcPr/>
                </a:tc>
                <a:tc>
                  <a:txBody>
                    <a:bodyPr/>
                    <a:lstStyle/>
                    <a:p>
                      <a:r>
                        <a:rPr lang="zh-CN" altLang="en-US" dirty="0"/>
                        <a:t>时间</a:t>
                      </a:r>
                      <a:r>
                        <a:rPr lang="en-US" altLang="zh-CN" dirty="0"/>
                        <a:t>(s)</a:t>
                      </a:r>
                      <a:endParaRPr lang="zh-CN" altLang="en-US" dirty="0"/>
                    </a:p>
                  </a:txBody>
                  <a:tcPr/>
                </a:tc>
                <a:tc>
                  <a:txBody>
                    <a:bodyPr/>
                    <a:lstStyle/>
                    <a:p>
                      <a:r>
                        <a:rPr lang="zh-CN" altLang="en-US" dirty="0"/>
                        <a:t>大小</a:t>
                      </a:r>
                      <a:r>
                        <a:rPr lang="en-US" altLang="zh-CN" dirty="0"/>
                        <a:t>(MB)</a:t>
                      </a:r>
                      <a:endParaRPr lang="zh-CN" altLang="en-US" dirty="0"/>
                    </a:p>
                  </a:txBody>
                  <a:tcPr/>
                </a:tc>
                <a:extLst>
                  <a:ext uri="{0D108BD9-81ED-4DB2-BD59-A6C34878D82A}">
                    <a16:rowId xmlns:a16="http://schemas.microsoft.com/office/drawing/2014/main" val="583073810"/>
                  </a:ext>
                </a:extLst>
              </a:tr>
              <a:tr h="325253">
                <a:tc>
                  <a:txBody>
                    <a:bodyPr/>
                    <a:lstStyle/>
                    <a:p>
                      <a:r>
                        <a:rPr lang="zh-CN" altLang="en-US" dirty="0"/>
                        <a:t>直接存储为</a:t>
                      </a:r>
                      <a:r>
                        <a:rPr lang="en-US" altLang="zh-CN" dirty="0"/>
                        <a:t>parquet</a:t>
                      </a:r>
                      <a:endParaRPr lang="zh-CN" altLang="en-US" dirty="0"/>
                    </a:p>
                  </a:txBody>
                  <a:tcPr/>
                </a:tc>
                <a:tc>
                  <a:txBody>
                    <a:bodyPr/>
                    <a:lstStyle/>
                    <a:p>
                      <a:r>
                        <a:rPr lang="en-US" altLang="zh-CN" dirty="0"/>
                        <a:t>1.30</a:t>
                      </a:r>
                      <a:endParaRPr lang="zh-CN" altLang="en-US" dirty="0"/>
                    </a:p>
                  </a:txBody>
                  <a:tcPr/>
                </a:tc>
                <a:tc>
                  <a:txBody>
                    <a:bodyPr/>
                    <a:lstStyle/>
                    <a:p>
                      <a:r>
                        <a:rPr lang="en-US" altLang="zh-CN" dirty="0"/>
                        <a:t>2.32</a:t>
                      </a:r>
                      <a:endParaRPr lang="zh-CN" altLang="en-US" dirty="0"/>
                    </a:p>
                  </a:txBody>
                  <a:tcPr/>
                </a:tc>
                <a:extLst>
                  <a:ext uri="{0D108BD9-81ED-4DB2-BD59-A6C34878D82A}">
                    <a16:rowId xmlns:a16="http://schemas.microsoft.com/office/drawing/2014/main" val="99114579"/>
                  </a:ext>
                </a:extLst>
              </a:tr>
              <a:tr h="325253">
                <a:tc>
                  <a:txBody>
                    <a:bodyPr/>
                    <a:lstStyle/>
                    <a:p>
                      <a:r>
                        <a:rPr lang="zh-CN" altLang="en-US" dirty="0"/>
                        <a:t>转为</a:t>
                      </a:r>
                      <a:r>
                        <a:rPr lang="en-US" altLang="zh-CN" dirty="0"/>
                        <a:t>Arrow</a:t>
                      </a:r>
                      <a:r>
                        <a:rPr lang="zh-CN" altLang="en-US" dirty="0"/>
                        <a:t>后存储为</a:t>
                      </a:r>
                      <a:r>
                        <a:rPr lang="en-US" altLang="zh-CN" dirty="0"/>
                        <a:t>parquet</a:t>
                      </a:r>
                      <a:endParaRPr lang="zh-CN" altLang="en-US" dirty="0"/>
                    </a:p>
                  </a:txBody>
                  <a:tcPr/>
                </a:tc>
                <a:tc>
                  <a:txBody>
                    <a:bodyPr/>
                    <a:lstStyle/>
                    <a:p>
                      <a:r>
                        <a:rPr lang="en-US" altLang="zh-CN" dirty="0"/>
                        <a:t>0.38(73.1%</a:t>
                      </a:r>
                      <a:r>
                        <a:rPr lang="zh-CN" altLang="en-US" dirty="0"/>
                        <a:t>↓</a:t>
                      </a:r>
                      <a:r>
                        <a:rPr lang="en-US" altLang="zh-CN" dirty="0"/>
                        <a:t>) </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2.89(24.6%</a:t>
                      </a:r>
                      <a:r>
                        <a:rPr lang="zh-CN" altLang="en-US" dirty="0"/>
                        <a:t>↑</a:t>
                      </a:r>
                      <a:r>
                        <a:rPr lang="en-US" altLang="zh-CN" dirty="0"/>
                        <a:t>)</a:t>
                      </a:r>
                      <a:endParaRPr lang="zh-CN" altLang="en-US" dirty="0"/>
                    </a:p>
                  </a:txBody>
                  <a:tcPr/>
                </a:tc>
                <a:extLst>
                  <a:ext uri="{0D108BD9-81ED-4DB2-BD59-A6C34878D82A}">
                    <a16:rowId xmlns:a16="http://schemas.microsoft.com/office/drawing/2014/main" val="2960946298"/>
                  </a:ext>
                </a:extLst>
              </a:tr>
              <a:tr h="4179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转为</a:t>
                      </a:r>
                      <a:r>
                        <a:rPr lang="en-US" altLang="zh-CN" dirty="0"/>
                        <a:t>Arrow</a:t>
                      </a:r>
                      <a:r>
                        <a:rPr lang="zh-CN" altLang="en-US" dirty="0"/>
                        <a:t>后原生存储</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1.33(2.3%</a:t>
                      </a:r>
                      <a:r>
                        <a:rPr lang="zh-CN" altLang="en-US" dirty="0"/>
                        <a:t>↑</a:t>
                      </a:r>
                      <a:r>
                        <a:rPr lang="en-US" altLang="zh-CN" dirty="0"/>
                        <a:t>)</a:t>
                      </a:r>
                      <a:endParaRPr lang="zh-CN" altLang="en-US" dirty="0"/>
                    </a:p>
                  </a:txBody>
                  <a:tcPr/>
                </a:tc>
                <a:tc>
                  <a:txBody>
                    <a:bodyPr/>
                    <a:lstStyle/>
                    <a:p>
                      <a:r>
                        <a:rPr lang="en-US" altLang="zh-CN" dirty="0"/>
                        <a:t>2.29(1.3%</a:t>
                      </a:r>
                      <a:r>
                        <a:rPr lang="zh-CN" altLang="en-US" dirty="0"/>
                        <a:t>↓</a:t>
                      </a:r>
                      <a:r>
                        <a:rPr lang="en-US" altLang="zh-CN" dirty="0"/>
                        <a:t>)</a:t>
                      </a:r>
                      <a:endParaRPr lang="zh-CN" altLang="en-US" dirty="0"/>
                    </a:p>
                  </a:txBody>
                  <a:tcPr/>
                </a:tc>
                <a:extLst>
                  <a:ext uri="{0D108BD9-81ED-4DB2-BD59-A6C34878D82A}">
                    <a16:rowId xmlns:a16="http://schemas.microsoft.com/office/drawing/2014/main" val="1721372500"/>
                  </a:ext>
                </a:extLst>
              </a:tr>
            </a:tbl>
          </a:graphicData>
        </a:graphic>
      </p:graphicFrame>
    </p:spTree>
    <p:extLst>
      <p:ext uri="{BB962C8B-B14F-4D97-AF65-F5344CB8AC3E}">
        <p14:creationId xmlns:p14="http://schemas.microsoft.com/office/powerpoint/2010/main" val="953981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2B547B-B61C-4EE6-AD1F-B5D81F4EC92A}"/>
              </a:ext>
            </a:extLst>
          </p:cNvPr>
          <p:cNvSpPr>
            <a:spLocks noGrp="1"/>
          </p:cNvSpPr>
          <p:nvPr>
            <p:ph type="title"/>
          </p:nvPr>
        </p:nvSpPr>
        <p:spPr/>
        <p:txBody>
          <a:bodyPr/>
          <a:lstStyle/>
          <a:p>
            <a:r>
              <a:rPr lang="zh-CN" altLang="en-US" dirty="0"/>
              <a:t>跨节点传输：</a:t>
            </a:r>
            <a:r>
              <a:rPr lang="en-US" altLang="zh-CN" dirty="0"/>
              <a:t> Apache Arrow Flight</a:t>
            </a:r>
            <a:r>
              <a:rPr lang="zh-CN" altLang="en-US" dirty="0"/>
              <a:t>（</a:t>
            </a:r>
            <a:r>
              <a:rPr lang="en-US" altLang="zh-CN" dirty="0" err="1"/>
              <a:t>grpc</a:t>
            </a:r>
            <a:r>
              <a:rPr lang="zh-CN" altLang="en-US" dirty="0"/>
              <a:t>上实现内存传输）</a:t>
            </a:r>
          </a:p>
        </p:txBody>
      </p:sp>
      <p:sp>
        <p:nvSpPr>
          <p:cNvPr id="3" name="内容占位符 2">
            <a:extLst>
              <a:ext uri="{FF2B5EF4-FFF2-40B4-BE49-F238E27FC236}">
                <a16:creationId xmlns:a16="http://schemas.microsoft.com/office/drawing/2014/main" id="{8C6EB5B4-2037-4C5A-833D-2C0F64DF134C}"/>
              </a:ext>
            </a:extLst>
          </p:cNvPr>
          <p:cNvSpPr>
            <a:spLocks noGrp="1"/>
          </p:cNvSpPr>
          <p:nvPr>
            <p:ph idx="1"/>
          </p:nvPr>
        </p:nvSpPr>
        <p:spPr>
          <a:xfrm>
            <a:off x="838200" y="1825625"/>
            <a:ext cx="7278159" cy="4351338"/>
          </a:xfrm>
        </p:spPr>
        <p:txBody>
          <a:bodyPr>
            <a:normAutofit lnSpcReduction="10000"/>
          </a:bodyPr>
          <a:lstStyle/>
          <a:p>
            <a:r>
              <a:rPr lang="zh-CN" altLang="en-US" dirty="0"/>
              <a:t>通信协议使用</a:t>
            </a:r>
            <a:r>
              <a:rPr lang="en-US" altLang="zh-CN" dirty="0" err="1"/>
              <a:t>grpc</a:t>
            </a:r>
            <a:r>
              <a:rPr lang="zh-CN" altLang="en-US" dirty="0"/>
              <a:t>，在网络接口间高效传输大型数据集</a:t>
            </a:r>
            <a:endParaRPr lang="en-US" altLang="zh-CN" dirty="0"/>
          </a:p>
          <a:p>
            <a:r>
              <a:rPr lang="zh-CN" altLang="en-US" dirty="0"/>
              <a:t>特性</a:t>
            </a:r>
            <a:endParaRPr lang="en-US" altLang="zh-CN" dirty="0"/>
          </a:p>
          <a:p>
            <a:pPr lvl="1"/>
            <a:r>
              <a:rPr lang="zh-CN" altLang="en-US" dirty="0"/>
              <a:t>并行传输</a:t>
            </a:r>
            <a:endParaRPr lang="en-US" altLang="zh-CN" dirty="0"/>
          </a:p>
          <a:p>
            <a:pPr lvl="1"/>
            <a:r>
              <a:rPr lang="zh-CN" altLang="en-US" dirty="0"/>
              <a:t>内存传输：避免任何内存复制或反序列化</a:t>
            </a:r>
            <a:endParaRPr lang="en-US" altLang="zh-CN" dirty="0"/>
          </a:p>
          <a:p>
            <a:pPr lvl="1"/>
            <a:r>
              <a:rPr lang="zh-CN" altLang="en-US" dirty="0"/>
              <a:t>水平可扩展的数据服务：可以将计划请求服务委托给兄弟节点</a:t>
            </a:r>
            <a:endParaRPr lang="en-US" altLang="zh-CN" dirty="0"/>
          </a:p>
          <a:p>
            <a:pPr lvl="1"/>
            <a:r>
              <a:rPr lang="zh-CN" altLang="en-US" dirty="0"/>
              <a:t>业务扩展：</a:t>
            </a:r>
            <a:r>
              <a:rPr lang="en-US" altLang="zh-CN" dirty="0"/>
              <a:t>action</a:t>
            </a:r>
            <a:r>
              <a:rPr lang="zh-CN" altLang="en-US" dirty="0"/>
              <a:t>命令可以指定数据集固定在内存中以便后续操作</a:t>
            </a:r>
            <a:endParaRPr lang="en-US" altLang="zh-CN" dirty="0"/>
          </a:p>
          <a:p>
            <a:pPr lvl="1"/>
            <a:endParaRPr lang="en-US" altLang="zh-CN" dirty="0"/>
          </a:p>
          <a:p>
            <a:r>
              <a:rPr lang="zh-CN" altLang="en-US" dirty="0"/>
              <a:t>实验室条件端到端 </a:t>
            </a:r>
            <a:r>
              <a:rPr lang="en-US" altLang="zh-CN" dirty="0"/>
              <a:t>TCP </a:t>
            </a:r>
            <a:r>
              <a:rPr lang="zh-CN" altLang="en-US" dirty="0"/>
              <a:t>吞吐量超过 </a:t>
            </a:r>
            <a:r>
              <a:rPr lang="en-US" altLang="zh-CN" dirty="0"/>
              <a:t>2-3GB/s</a:t>
            </a:r>
          </a:p>
          <a:p>
            <a:pPr lvl="1"/>
            <a:endParaRPr lang="en-US" altLang="zh-CN" dirty="0"/>
          </a:p>
          <a:p>
            <a:endParaRPr lang="zh-CN" altLang="en-US" dirty="0"/>
          </a:p>
        </p:txBody>
      </p:sp>
      <p:pic>
        <p:nvPicPr>
          <p:cNvPr id="1027" name="Picture 3" descr="Flight Simple Architecture">
            <a:extLst>
              <a:ext uri="{FF2B5EF4-FFF2-40B4-BE49-F238E27FC236}">
                <a16:creationId xmlns:a16="http://schemas.microsoft.com/office/drawing/2014/main" id="{F9CADDAA-C5E0-4294-B872-E0416453B6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6359" y="1293416"/>
            <a:ext cx="3939049" cy="2520156"/>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Flight Complex Architecture">
            <a:extLst>
              <a:ext uri="{FF2B5EF4-FFF2-40B4-BE49-F238E27FC236}">
                <a16:creationId xmlns:a16="http://schemas.microsoft.com/office/drawing/2014/main" id="{3147350E-DD9A-49AA-8536-14BE24E53E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3800" y="4235373"/>
            <a:ext cx="3704167" cy="1764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4416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532D7B-D2DE-4ACA-AE54-43317D004D3A}"/>
              </a:ext>
            </a:extLst>
          </p:cNvPr>
          <p:cNvSpPr>
            <a:spLocks noGrp="1"/>
          </p:cNvSpPr>
          <p:nvPr>
            <p:ph type="title"/>
          </p:nvPr>
        </p:nvSpPr>
        <p:spPr/>
        <p:txBody>
          <a:bodyPr/>
          <a:lstStyle/>
          <a:p>
            <a:r>
              <a:rPr lang="zh-CN" altLang="en-US" dirty="0"/>
              <a:t>默认转化机制与</a:t>
            </a:r>
            <a:r>
              <a:rPr lang="en-US" altLang="zh-CN" dirty="0"/>
              <a:t>Arrow</a:t>
            </a:r>
            <a:r>
              <a:rPr lang="zh-CN" altLang="en-US" dirty="0"/>
              <a:t>优化机制</a:t>
            </a:r>
          </a:p>
        </p:txBody>
      </p:sp>
      <p:sp>
        <p:nvSpPr>
          <p:cNvPr id="3" name="内容占位符 2">
            <a:extLst>
              <a:ext uri="{FF2B5EF4-FFF2-40B4-BE49-F238E27FC236}">
                <a16:creationId xmlns:a16="http://schemas.microsoft.com/office/drawing/2014/main" id="{49140396-751A-4397-88E0-7D5721A81A3B}"/>
              </a:ext>
            </a:extLst>
          </p:cNvPr>
          <p:cNvSpPr>
            <a:spLocks noGrp="1"/>
          </p:cNvSpPr>
          <p:nvPr>
            <p:ph idx="1"/>
          </p:nvPr>
        </p:nvSpPr>
        <p:spPr>
          <a:xfrm>
            <a:off x="838200" y="1825625"/>
            <a:ext cx="10515600" cy="4871508"/>
          </a:xfrm>
        </p:spPr>
        <p:txBody>
          <a:bodyPr>
            <a:normAutofit fontScale="85000" lnSpcReduction="20000"/>
          </a:bodyPr>
          <a:lstStyle/>
          <a:p>
            <a:pPr>
              <a:lnSpc>
                <a:spcPct val="120000"/>
              </a:lnSpc>
            </a:pPr>
            <a:r>
              <a:rPr lang="zh-CN" altLang="en-US" dirty="0"/>
              <a:t>默认转换的过程：使用</a:t>
            </a:r>
            <a:r>
              <a:rPr lang="en-US" altLang="zh-CN" dirty="0"/>
              <a:t>python</a:t>
            </a:r>
            <a:r>
              <a:rPr lang="zh-CN" altLang="en-US" dirty="0"/>
              <a:t>的</a:t>
            </a:r>
            <a:r>
              <a:rPr lang="en-US" altLang="zh-CN" dirty="0"/>
              <a:t>pickle</a:t>
            </a:r>
            <a:r>
              <a:rPr lang="zh-CN" altLang="en-US" dirty="0"/>
              <a:t>序列化，该过程丢弃模式元数据，需要对数据进行一次迭代以推断类型信息导致，将</a:t>
            </a:r>
            <a:r>
              <a:rPr lang="en-US" altLang="zh-CN" dirty="0"/>
              <a:t>pandas </a:t>
            </a:r>
            <a:r>
              <a:rPr lang="en-US" altLang="zh-CN" dirty="0" err="1"/>
              <a:t>dataframe</a:t>
            </a:r>
            <a:r>
              <a:rPr lang="zh-CN" altLang="en-US" dirty="0"/>
              <a:t>转为</a:t>
            </a:r>
            <a:r>
              <a:rPr lang="en-US" altLang="zh-CN" dirty="0"/>
              <a:t>Java RDD</a:t>
            </a:r>
            <a:r>
              <a:rPr lang="zh-CN" altLang="en-US" dirty="0"/>
              <a:t>，随后再将</a:t>
            </a:r>
            <a:r>
              <a:rPr lang="en-US" altLang="zh-CN" dirty="0"/>
              <a:t>java RDD</a:t>
            </a:r>
            <a:r>
              <a:rPr lang="zh-CN" altLang="en-US" dirty="0"/>
              <a:t>转为</a:t>
            </a:r>
            <a:r>
              <a:rPr lang="en-US" altLang="zh-CN" dirty="0"/>
              <a:t>spark </a:t>
            </a:r>
            <a:r>
              <a:rPr lang="en-US" altLang="zh-CN" dirty="0" err="1"/>
              <a:t>dataframe</a:t>
            </a:r>
            <a:r>
              <a:rPr lang="zh-CN" altLang="en-US" dirty="0"/>
              <a:t>，这一过程有需要对每个值进行类型检查和转换</a:t>
            </a:r>
            <a:endParaRPr lang="en-US" altLang="zh-CN" dirty="0"/>
          </a:p>
          <a:p>
            <a:pPr>
              <a:lnSpc>
                <a:spcPct val="120000"/>
              </a:lnSpc>
            </a:pPr>
            <a:r>
              <a:rPr lang="en-US" altLang="zh-CN" dirty="0"/>
              <a:t>Arrow</a:t>
            </a:r>
            <a:r>
              <a:rPr lang="zh-CN" altLang="en-US" dirty="0"/>
              <a:t>优化机制</a:t>
            </a:r>
            <a:endParaRPr lang="en-US" altLang="zh-CN" dirty="0"/>
          </a:p>
          <a:p>
            <a:pPr lvl="1">
              <a:lnSpc>
                <a:spcPct val="120000"/>
              </a:lnSpc>
            </a:pPr>
            <a:r>
              <a:rPr lang="zh-CN" altLang="en-US" dirty="0"/>
              <a:t>将</a:t>
            </a:r>
            <a:r>
              <a:rPr lang="en-US" altLang="zh-CN" dirty="0"/>
              <a:t>pandas</a:t>
            </a:r>
            <a:r>
              <a:rPr lang="zh-CN" altLang="en-US" dirty="0"/>
              <a:t>和</a:t>
            </a:r>
            <a:r>
              <a:rPr lang="en-US" altLang="zh-CN" dirty="0"/>
              <a:t>spark </a:t>
            </a:r>
            <a:r>
              <a:rPr lang="en-US" altLang="zh-CN" dirty="0" err="1"/>
              <a:t>dataframe</a:t>
            </a:r>
            <a:r>
              <a:rPr lang="zh-CN" altLang="en-US" dirty="0">
                <a:solidFill>
                  <a:srgbClr val="FF0000"/>
                </a:solidFill>
              </a:rPr>
              <a:t>并行分块传输</a:t>
            </a:r>
            <a:endParaRPr lang="en-US" altLang="zh-CN" dirty="0">
              <a:solidFill>
                <a:srgbClr val="FF0000"/>
              </a:solidFill>
            </a:endParaRPr>
          </a:p>
          <a:p>
            <a:pPr lvl="1">
              <a:lnSpc>
                <a:spcPct val="120000"/>
              </a:lnSpc>
            </a:pPr>
            <a:r>
              <a:rPr lang="en-US" altLang="zh-CN" dirty="0"/>
              <a:t>Pandas</a:t>
            </a:r>
            <a:r>
              <a:rPr lang="zh-CN" altLang="en-US" dirty="0"/>
              <a:t>的</a:t>
            </a:r>
            <a:r>
              <a:rPr lang="en-US" altLang="zh-CN" dirty="0" err="1"/>
              <a:t>dataframe</a:t>
            </a:r>
            <a:r>
              <a:rPr lang="zh-CN" altLang="en-US" dirty="0"/>
              <a:t>和</a:t>
            </a:r>
            <a:r>
              <a:rPr lang="en-US" altLang="zh-CN" dirty="0"/>
              <a:t>JVM</a:t>
            </a:r>
            <a:r>
              <a:rPr lang="zh-CN" altLang="en-US" dirty="0"/>
              <a:t>中的</a:t>
            </a:r>
            <a:r>
              <a:rPr lang="en-US" altLang="zh-CN" dirty="0" err="1"/>
              <a:t>dataframe</a:t>
            </a:r>
            <a:r>
              <a:rPr lang="zh-CN" altLang="en-US" dirty="0"/>
              <a:t>介由</a:t>
            </a:r>
            <a:r>
              <a:rPr lang="en-US" altLang="zh-CN" dirty="0"/>
              <a:t>Arrow</a:t>
            </a:r>
            <a:r>
              <a:rPr lang="zh-CN" altLang="en-US" dirty="0"/>
              <a:t>特有的数据格式</a:t>
            </a:r>
            <a:r>
              <a:rPr lang="en-US" altLang="zh-CN" dirty="0" err="1"/>
              <a:t>RecordBatches</a:t>
            </a:r>
            <a:r>
              <a:rPr lang="zh-CN" altLang="en-US" dirty="0"/>
              <a:t>传输</a:t>
            </a:r>
            <a:endParaRPr lang="en-US" altLang="zh-CN" dirty="0"/>
          </a:p>
          <a:p>
            <a:pPr lvl="2">
              <a:lnSpc>
                <a:spcPct val="120000"/>
              </a:lnSpc>
            </a:pPr>
            <a:r>
              <a:rPr lang="zh-CN" altLang="en-US" dirty="0"/>
              <a:t>该格式对不同语言的数据使用</a:t>
            </a:r>
            <a:r>
              <a:rPr lang="zh-CN" altLang="en-US" dirty="0">
                <a:solidFill>
                  <a:srgbClr val="FF0000"/>
                </a:solidFill>
              </a:rPr>
              <a:t>统一的内存格式</a:t>
            </a:r>
            <a:r>
              <a:rPr lang="zh-CN" altLang="en-US" dirty="0"/>
              <a:t>以支持高效跨语言处理</a:t>
            </a:r>
            <a:endParaRPr lang="en-US" altLang="zh-CN" dirty="0"/>
          </a:p>
          <a:p>
            <a:pPr lvl="2">
              <a:lnSpc>
                <a:spcPct val="120000"/>
              </a:lnSpc>
            </a:pPr>
            <a:r>
              <a:rPr lang="zh-CN" altLang="en-US" dirty="0"/>
              <a:t>包含</a:t>
            </a:r>
            <a:r>
              <a:rPr lang="zh-CN" altLang="en-US" dirty="0">
                <a:solidFill>
                  <a:srgbClr val="FF0000"/>
                </a:solidFill>
              </a:rPr>
              <a:t>详细的数据类型信息</a:t>
            </a:r>
            <a:r>
              <a:rPr lang="zh-CN" altLang="en-US" dirty="0"/>
              <a:t>，确保在数据传输和处理过程中可以正确地解释和操作数据。</a:t>
            </a:r>
            <a:endParaRPr lang="en-US" altLang="zh-CN" dirty="0"/>
          </a:p>
          <a:p>
            <a:pPr lvl="2">
              <a:lnSpc>
                <a:spcPct val="120000"/>
              </a:lnSpc>
            </a:pPr>
            <a:r>
              <a:rPr lang="en-US" altLang="zh-CN" dirty="0" err="1"/>
              <a:t>RecordBatch</a:t>
            </a:r>
            <a:r>
              <a:rPr lang="en-US" altLang="zh-CN" dirty="0"/>
              <a:t> </a:t>
            </a:r>
            <a:r>
              <a:rPr lang="zh-CN" altLang="en-US" dirty="0"/>
              <a:t>与 </a:t>
            </a:r>
            <a:r>
              <a:rPr lang="en-US" altLang="zh-CN" dirty="0"/>
              <a:t>Arrow </a:t>
            </a:r>
            <a:r>
              <a:rPr lang="zh-CN" altLang="en-US" dirty="0"/>
              <a:t>的计算库紧密集成，</a:t>
            </a:r>
            <a:r>
              <a:rPr lang="zh-CN" altLang="en-US" dirty="0">
                <a:solidFill>
                  <a:srgbClr val="FF0000"/>
                </a:solidFill>
              </a:rPr>
              <a:t>支持一系列高效的数据处理操作</a:t>
            </a:r>
            <a:r>
              <a:rPr lang="zh-CN" altLang="en-US" dirty="0"/>
              <a:t>，如过滤、投影、聚合等。这些操作可以直接在列式数据上执行，避免了不必要的数据复制和转换。</a:t>
            </a:r>
            <a:endParaRPr lang="en-US" altLang="zh-CN" dirty="0"/>
          </a:p>
          <a:p>
            <a:pPr lvl="2">
              <a:lnSpc>
                <a:spcPct val="120000"/>
              </a:lnSpc>
            </a:pPr>
            <a:r>
              <a:rPr lang="zh-CN" altLang="en-US" dirty="0">
                <a:solidFill>
                  <a:srgbClr val="FF0000"/>
                </a:solidFill>
              </a:rPr>
              <a:t>支持零拷贝机制</a:t>
            </a:r>
            <a:r>
              <a:rPr lang="zh-CN" altLang="en-US" dirty="0"/>
              <a:t>，这意味着数据在不同的计算进程或系统之间传输时不需要进行额外的复制操作，从而减少了内存开销和 </a:t>
            </a:r>
            <a:r>
              <a:rPr lang="en-US" altLang="zh-CN" dirty="0"/>
              <a:t>CPU </a:t>
            </a:r>
            <a:r>
              <a:rPr lang="zh-CN" altLang="en-US" dirty="0"/>
              <a:t>使用。</a:t>
            </a:r>
            <a:endParaRPr lang="en-US" altLang="zh-CN" dirty="0"/>
          </a:p>
          <a:p>
            <a:endParaRPr lang="zh-CN" altLang="en-US" dirty="0"/>
          </a:p>
        </p:txBody>
      </p:sp>
    </p:spTree>
    <p:extLst>
      <p:ext uri="{BB962C8B-B14F-4D97-AF65-F5344CB8AC3E}">
        <p14:creationId xmlns:p14="http://schemas.microsoft.com/office/powerpoint/2010/main" val="422847840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575</TotalTime>
  <Words>535</Words>
  <Application>Microsoft Office PowerPoint</Application>
  <PresentationFormat>宽屏</PresentationFormat>
  <Paragraphs>51</Paragraphs>
  <Slides>6</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6</vt:i4>
      </vt:variant>
    </vt:vector>
  </HeadingPairs>
  <TitlesOfParts>
    <vt:vector size="10" baseType="lpstr">
      <vt:lpstr>等线</vt:lpstr>
      <vt:lpstr>等线 Light</vt:lpstr>
      <vt:lpstr>Arial</vt:lpstr>
      <vt:lpstr>Office 主题​​</vt:lpstr>
      <vt:lpstr>DataFrame-Arrow转换与通信优化测试</vt:lpstr>
      <vt:lpstr>为什么使用Arrow</vt:lpstr>
      <vt:lpstr>跨语言传输：Pandas Dataframe与RDD Dataframe转换在使用Arrow优化时的时间对比</vt:lpstr>
      <vt:lpstr>跨节点传输：将传输文件持久化存储后传输</vt:lpstr>
      <vt:lpstr>跨节点传输： Apache Arrow Flight（grpc上实现内存传输）</vt:lpstr>
      <vt:lpstr>默认转化机制与Arrow优化机制</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DataFrame-Arrow转换与通信优化demo</dc:title>
  <dc:creator>Yomi Natsusaki</dc:creator>
  <cp:lastModifiedBy>Yomi Natsusaki</cp:lastModifiedBy>
  <cp:revision>23</cp:revision>
  <dcterms:created xsi:type="dcterms:W3CDTF">2024-06-12T15:49:10Z</dcterms:created>
  <dcterms:modified xsi:type="dcterms:W3CDTF">2024-06-13T15:15:44Z</dcterms:modified>
</cp:coreProperties>
</file>