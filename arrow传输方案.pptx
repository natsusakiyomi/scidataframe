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62" r:id="rId3"/>
    <p:sldId id="273" r:id="rId5"/>
    <p:sldId id="275" r:id="rId6"/>
    <p:sldId id="278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6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9EDF"/>
    <a:srgbClr val="85AFF9"/>
    <a:srgbClr val="9EC2F9"/>
    <a:srgbClr val="DEA3BE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08"/>
        <p:guide pos="36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4" Type="http://schemas.openxmlformats.org/officeDocument/2006/relationships/notesSlide" Target="../notesSlides/notesSlide2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57.xml"/><Relationship Id="rId41" Type="http://schemas.openxmlformats.org/officeDocument/2006/relationships/tags" Target="../tags/tag56.xml"/><Relationship Id="rId40" Type="http://schemas.openxmlformats.org/officeDocument/2006/relationships/tags" Target="../tags/tag55.xml"/><Relationship Id="rId4" Type="http://schemas.openxmlformats.org/officeDocument/2006/relationships/tags" Target="../tags/tag21.xml"/><Relationship Id="rId39" Type="http://schemas.openxmlformats.org/officeDocument/2006/relationships/tags" Target="../tags/tag54.xml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tags" Target="../tags/tag47.xml"/><Relationship Id="rId31" Type="http://schemas.openxmlformats.org/officeDocument/2006/relationships/tags" Target="../tags/tag46.xml"/><Relationship Id="rId30" Type="http://schemas.openxmlformats.org/officeDocument/2006/relationships/tags" Target="../tags/tag45.xml"/><Relationship Id="rId3" Type="http://schemas.openxmlformats.org/officeDocument/2006/relationships/tags" Target="../tags/tag20.xml"/><Relationship Id="rId29" Type="http://schemas.openxmlformats.org/officeDocument/2006/relationships/tags" Target="../tags/tag44.xml"/><Relationship Id="rId28" Type="http://schemas.openxmlformats.org/officeDocument/2006/relationships/tags" Target="../tags/tag43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9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4" Type="http://schemas.openxmlformats.org/officeDocument/2006/relationships/notesSlide" Target="../notesSlides/notesSlide3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89.xml"/><Relationship Id="rId31" Type="http://schemas.openxmlformats.org/officeDocument/2006/relationships/tags" Target="../tags/tag88.xml"/><Relationship Id="rId30" Type="http://schemas.openxmlformats.org/officeDocument/2006/relationships/tags" Target="../tags/tag87.xml"/><Relationship Id="rId3" Type="http://schemas.openxmlformats.org/officeDocument/2006/relationships/tags" Target="../tags/tag60.xml"/><Relationship Id="rId29" Type="http://schemas.openxmlformats.org/officeDocument/2006/relationships/tags" Target="../tags/tag86.xml"/><Relationship Id="rId28" Type="http://schemas.openxmlformats.org/officeDocument/2006/relationships/tags" Target="../tags/tag85.xml"/><Relationship Id="rId27" Type="http://schemas.openxmlformats.org/officeDocument/2006/relationships/tags" Target="../tags/tag84.xml"/><Relationship Id="rId26" Type="http://schemas.openxmlformats.org/officeDocument/2006/relationships/tags" Target="../tags/tag83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59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0" Type="http://schemas.openxmlformats.org/officeDocument/2006/relationships/notesSlide" Target="../notesSlides/notesSlide4.xml"/><Relationship Id="rId5" Type="http://schemas.openxmlformats.org/officeDocument/2006/relationships/tags" Target="../tags/tag94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135.xml"/><Relationship Id="rId47" Type="http://schemas.openxmlformats.org/officeDocument/2006/relationships/tags" Target="../tags/tag134.xml"/><Relationship Id="rId46" Type="http://schemas.openxmlformats.org/officeDocument/2006/relationships/tags" Target="../tags/tag133.xml"/><Relationship Id="rId45" Type="http://schemas.openxmlformats.org/officeDocument/2006/relationships/tags" Target="../tags/tag132.xml"/><Relationship Id="rId44" Type="http://schemas.openxmlformats.org/officeDocument/2006/relationships/tags" Target="../tags/tag131.xml"/><Relationship Id="rId43" Type="http://schemas.openxmlformats.org/officeDocument/2006/relationships/tags" Target="../tags/tag130.xml"/><Relationship Id="rId42" Type="http://schemas.openxmlformats.org/officeDocument/2006/relationships/tags" Target="../tags/tag129.xml"/><Relationship Id="rId41" Type="http://schemas.openxmlformats.org/officeDocument/2006/relationships/tags" Target="../tags/tag128.xml"/><Relationship Id="rId40" Type="http://schemas.openxmlformats.org/officeDocument/2006/relationships/tags" Target="../tags/tag127.xml"/><Relationship Id="rId4" Type="http://schemas.openxmlformats.org/officeDocument/2006/relationships/tags" Target="../tags/tag93.xml"/><Relationship Id="rId39" Type="http://schemas.openxmlformats.org/officeDocument/2006/relationships/tags" Target="../tags/tag126.xml"/><Relationship Id="rId38" Type="http://schemas.openxmlformats.org/officeDocument/2006/relationships/tags" Target="../tags/tag125.xml"/><Relationship Id="rId37" Type="http://schemas.openxmlformats.org/officeDocument/2006/relationships/tags" Target="../tags/tag124.xml"/><Relationship Id="rId36" Type="http://schemas.openxmlformats.org/officeDocument/2006/relationships/tags" Target="../tags/tag123.xml"/><Relationship Id="rId35" Type="http://schemas.openxmlformats.org/officeDocument/2006/relationships/tags" Target="../tags/tag122.xml"/><Relationship Id="rId34" Type="http://schemas.openxmlformats.org/officeDocument/2006/relationships/tags" Target="../tags/tag121.xml"/><Relationship Id="rId33" Type="http://schemas.openxmlformats.org/officeDocument/2006/relationships/tags" Target="../tags/tag120.xml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2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91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5449570" y="2113280"/>
            <a:ext cx="1422400" cy="80518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 Server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8419465" y="2185670"/>
            <a:ext cx="1422400" cy="6515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客户端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en-US" altLang="zh-CN" sz="800">
                <a:solidFill>
                  <a:schemeClr val="tx1"/>
                </a:solidFill>
                <a:sym typeface="+mn-ea"/>
              </a:rPr>
              <a:t>(Java/Python)</a:t>
            </a:r>
            <a:endParaRPr lang="en-US" altLang="zh-CN" sz="8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1638300" y="2186305"/>
            <a:ext cx="1422400" cy="6508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数据发布平台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3"/>
            <a:endCxn id="5" idx="1"/>
          </p:cNvCxnSpPr>
          <p:nvPr/>
        </p:nvCxnSpPr>
        <p:spPr>
          <a:xfrm>
            <a:off x="3060700" y="2512060"/>
            <a:ext cx="2388870" cy="3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401695" y="2117090"/>
            <a:ext cx="81597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HTTP</a:t>
            </a:r>
            <a:endParaRPr lang="en-US" altLang="zh-CN" sz="1000"/>
          </a:p>
          <a:p>
            <a:pPr algn="ctr"/>
            <a:r>
              <a:rPr lang="en-US" altLang="zh-CN" sz="1000"/>
              <a:t>(csv...)</a:t>
            </a:r>
            <a:endParaRPr lang="en-US" altLang="zh-CN" sz="1000"/>
          </a:p>
        </p:txBody>
      </p:sp>
      <p:cxnSp>
        <p:nvCxnSpPr>
          <p:cNvPr id="16" name="直接箭头连接符 15"/>
          <p:cNvCxnSpPr>
            <a:stCxn id="5" idx="3"/>
            <a:endCxn id="7" idx="1"/>
          </p:cNvCxnSpPr>
          <p:nvPr>
            <p:custDataLst>
              <p:tags r:id="rId3"/>
            </p:custDataLst>
          </p:nvPr>
        </p:nvCxnSpPr>
        <p:spPr>
          <a:xfrm flipV="1">
            <a:off x="6871970" y="2511425"/>
            <a:ext cx="154749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365365" y="2117090"/>
            <a:ext cx="1072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IPC/RPC (arrow)</a:t>
            </a:r>
            <a:endParaRPr lang="en-US" altLang="zh-CN" sz="1000"/>
          </a:p>
        </p:txBody>
      </p:sp>
      <p:sp>
        <p:nvSpPr>
          <p:cNvPr id="20" name="文本框 19"/>
          <p:cNvSpPr txBox="1"/>
          <p:nvPr/>
        </p:nvSpPr>
        <p:spPr>
          <a:xfrm>
            <a:off x="243840" y="294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实体数据传递流程（</a:t>
            </a:r>
            <a:r>
              <a:rPr lang="en-US" altLang="zh-CN"/>
              <a:t>7.8 </a:t>
            </a:r>
            <a:r>
              <a:rPr lang="zh-CN" altLang="en-US"/>
              <a:t>版本）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092065" y="1840230"/>
            <a:ext cx="2452370" cy="327215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5241925" y="4127500"/>
            <a:ext cx="2020570" cy="367665"/>
          </a:xfrm>
          <a:prstGeom prst="rect">
            <a:avLst/>
          </a:prstGeom>
          <a:solidFill>
            <a:srgbClr val="9EC2F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.arrow file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241925" y="3143250"/>
            <a:ext cx="2020570" cy="804545"/>
          </a:xfrm>
          <a:prstGeom prst="rect">
            <a:avLst/>
          </a:prstGeom>
          <a:solidFill>
            <a:srgbClr val="DEA3BE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828790" y="3712845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mem</a:t>
            </a:r>
            <a:endParaRPr lang="en-US" altLang="zh-CN" sz="1000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846570" y="4267835"/>
            <a:ext cx="483870" cy="26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disk</a:t>
            </a:r>
            <a:endParaRPr lang="en-US" altLang="zh-CN" sz="1000"/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3709035" y="3143250"/>
            <a:ext cx="118872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algn="just">
              <a:buFont typeface="+mj-ea"/>
              <a:buAutoNum type="circleNumDbPlain"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HTTP stream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5403850" y="3573145"/>
            <a:ext cx="1312545" cy="267335"/>
          </a:xfrm>
          <a:prstGeom prst="rect">
            <a:avLst/>
          </a:prstGeom>
          <a:solidFill>
            <a:srgbClr val="DEA3B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5403850" y="3241675"/>
            <a:ext cx="1312545" cy="267335"/>
          </a:xfrm>
          <a:prstGeom prst="rect">
            <a:avLst/>
          </a:prstGeom>
          <a:solidFill>
            <a:srgbClr val="DEA3B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IterableDataFrame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30" name="流程图: 决策 29"/>
          <p:cNvSpPr/>
          <p:nvPr/>
        </p:nvSpPr>
        <p:spPr>
          <a:xfrm>
            <a:off x="2637790" y="3143250"/>
            <a:ext cx="1071245" cy="47244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</a:rPr>
              <a:t>streaming=</a:t>
            </a:r>
            <a:endParaRPr lang="en-US" altLang="zh-CN" sz="8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</a:rPr>
              <a:t>True</a:t>
            </a:r>
            <a:endParaRPr lang="en-US" altLang="zh-CN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2" name="肘形连接符 31"/>
          <p:cNvCxnSpPr>
            <a:stCxn id="8" idx="2"/>
            <a:endCxn id="30" idx="1"/>
          </p:cNvCxnSpPr>
          <p:nvPr/>
        </p:nvCxnSpPr>
        <p:spPr>
          <a:xfrm rot="5400000" flipV="1">
            <a:off x="2222500" y="2964180"/>
            <a:ext cx="542290" cy="28829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1521460" y="2837180"/>
            <a:ext cx="89471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load_dataset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6" name="直接箭头连接符 35"/>
          <p:cNvCxnSpPr>
            <a:stCxn id="30" idx="3"/>
            <a:endCxn id="26" idx="1"/>
          </p:cNvCxnSpPr>
          <p:nvPr/>
        </p:nvCxnSpPr>
        <p:spPr>
          <a:xfrm flipV="1">
            <a:off x="3709035" y="3375660"/>
            <a:ext cx="1694815" cy="381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30" idx="2"/>
            <a:endCxn id="3" idx="1"/>
          </p:cNvCxnSpPr>
          <p:nvPr>
            <p:custDataLst>
              <p:tags r:id="rId11"/>
            </p:custDataLst>
          </p:nvPr>
        </p:nvCxnSpPr>
        <p:spPr>
          <a:xfrm rot="5400000" flipV="1">
            <a:off x="3859530" y="2929255"/>
            <a:ext cx="695960" cy="2068195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3252470" y="4044950"/>
            <a:ext cx="136398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algn="just">
              <a:buFont typeface="+mj-ea"/>
              <a:buAutoNum type="circleNumDbPlain" startAt="2"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HTTP response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上下箭头 21"/>
          <p:cNvSpPr/>
          <p:nvPr/>
        </p:nvSpPr>
        <p:spPr>
          <a:xfrm>
            <a:off x="7143115" y="3840480"/>
            <a:ext cx="299085" cy="42100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cxnSp>
        <p:nvCxnSpPr>
          <p:cNvPr id="27" name="肘形连接符 26"/>
          <p:cNvCxnSpPr>
            <a:stCxn id="26" idx="3"/>
            <a:endCxn id="7" idx="2"/>
          </p:cNvCxnSpPr>
          <p:nvPr>
            <p:custDataLst>
              <p:tags r:id="rId13"/>
            </p:custDataLst>
          </p:nvPr>
        </p:nvCxnSpPr>
        <p:spPr>
          <a:xfrm flipV="1">
            <a:off x="6716395" y="2837180"/>
            <a:ext cx="2414270" cy="53848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25" idx="3"/>
            <a:endCxn id="7" idx="2"/>
          </p:cNvCxnSpPr>
          <p:nvPr>
            <p:custDataLst>
              <p:tags r:id="rId14"/>
            </p:custDataLst>
          </p:nvPr>
        </p:nvCxnSpPr>
        <p:spPr>
          <a:xfrm flipV="1">
            <a:off x="6716395" y="2837180"/>
            <a:ext cx="2414270" cy="86995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372985" y="3867150"/>
            <a:ext cx="894715" cy="325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i="1">
                <a:solidFill>
                  <a:schemeClr val="accent6"/>
                </a:solidFill>
              </a:rPr>
              <a:t>memory-mapping</a:t>
            </a:r>
            <a:endParaRPr lang="en-US" altLang="zh-CN" sz="1000" i="1">
              <a:solidFill>
                <a:schemeClr val="accent6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654290" y="3155950"/>
            <a:ext cx="1189355" cy="202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algn="just">
              <a:buFont typeface="+mj-ea"/>
              <a:buAutoNum type="circleNumDbPlain"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arrow 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batch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7941310" y="3494405"/>
            <a:ext cx="1189355" cy="202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algn="just">
              <a:buFont typeface="+mj-ea"/>
              <a:buAutoNum type="circleNumDbPlain" startAt="2"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arrow 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table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9" name="曲线连接符 28"/>
          <p:cNvCxnSpPr>
            <a:stCxn id="25" idx="3"/>
            <a:endCxn id="26" idx="3"/>
          </p:cNvCxnSpPr>
          <p:nvPr/>
        </p:nvCxnSpPr>
        <p:spPr>
          <a:xfrm flipV="1">
            <a:off x="6716395" y="3375660"/>
            <a:ext cx="3175" cy="331470"/>
          </a:xfrm>
          <a:prstGeom prst="curvedConnector3">
            <a:avLst>
              <a:gd name="adj1" fmla="val 750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6871970" y="3375025"/>
            <a:ext cx="682625" cy="203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700"/>
              <a:t>to_iterable_dataframe()</a:t>
            </a:r>
            <a:endParaRPr lang="en-US" altLang="zh-CN" sz="700"/>
          </a:p>
        </p:txBody>
      </p:sp>
      <p:sp>
        <p:nvSpPr>
          <p:cNvPr id="37" name="文本框 36"/>
          <p:cNvSpPr txBox="1"/>
          <p:nvPr/>
        </p:nvSpPr>
        <p:spPr>
          <a:xfrm>
            <a:off x="7000240" y="5815965"/>
            <a:ext cx="4996180" cy="695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use streaming=True, when:</a:t>
            </a:r>
            <a:endParaRPr lang="en-US" altLang="zh-CN" sz="10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000"/>
              <a:t>You don’t want to wait for an extremely large dataset to download</a:t>
            </a:r>
            <a:endParaRPr lang="en-US" altLang="zh-CN" sz="10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000"/>
              <a:t>The dataset size exceeds the amount of available disk space on your computer.</a:t>
            </a:r>
            <a:endParaRPr lang="en-US" altLang="zh-CN" sz="10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000"/>
              <a:t>You want to quickly explore just a few samples of a dataset.</a:t>
            </a:r>
            <a:endParaRPr lang="en-US" altLang="zh-CN" sz="1000"/>
          </a:p>
          <a:p>
            <a:endParaRPr lang="en-US" alt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4539615" y="2117090"/>
            <a:ext cx="1422400" cy="80518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 Server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7384415" y="2110105"/>
            <a:ext cx="3235960" cy="8089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1200">
                <a:solidFill>
                  <a:schemeClr val="tx1"/>
                </a:solidFill>
              </a:rPr>
              <a:t>客户端</a:t>
            </a:r>
            <a:endParaRPr lang="zh-CN" altLang="en-US" sz="1200">
              <a:solidFill>
                <a:schemeClr val="tx1"/>
              </a:solidFill>
            </a:endParaRPr>
          </a:p>
          <a:p>
            <a:pPr algn="r"/>
            <a:r>
              <a:rPr lang="en-US" altLang="zh-CN" sz="800">
                <a:solidFill>
                  <a:schemeClr val="tx1"/>
                </a:solidFill>
                <a:sym typeface="+mn-ea"/>
              </a:rPr>
              <a:t>(Java/Python)</a:t>
            </a:r>
            <a:endParaRPr lang="en-US" altLang="zh-CN" sz="8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1330325" y="2186940"/>
            <a:ext cx="1422400" cy="6508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数据发布平台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3"/>
            <a:endCxn id="5" idx="1"/>
          </p:cNvCxnSpPr>
          <p:nvPr/>
        </p:nvCxnSpPr>
        <p:spPr>
          <a:xfrm>
            <a:off x="2752725" y="2512695"/>
            <a:ext cx="1786890" cy="698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997835" y="2136775"/>
            <a:ext cx="81597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HTTP</a:t>
            </a:r>
            <a:endParaRPr lang="en-US" altLang="zh-CN" sz="1000"/>
          </a:p>
          <a:p>
            <a:pPr algn="ctr"/>
            <a:r>
              <a:rPr lang="en-US" altLang="zh-CN" sz="1000"/>
              <a:t>(csv...)</a:t>
            </a:r>
            <a:endParaRPr lang="en-US" altLang="zh-CN" sz="1000"/>
          </a:p>
        </p:txBody>
      </p:sp>
      <p:cxnSp>
        <p:nvCxnSpPr>
          <p:cNvPr id="16" name="直接箭头连接符 15"/>
          <p:cNvCxnSpPr>
            <a:stCxn id="5" idx="3"/>
            <a:endCxn id="7" idx="1"/>
          </p:cNvCxnSpPr>
          <p:nvPr>
            <p:custDataLst>
              <p:tags r:id="rId3"/>
            </p:custDataLst>
          </p:nvPr>
        </p:nvCxnSpPr>
        <p:spPr>
          <a:xfrm flipV="1">
            <a:off x="5962015" y="2514600"/>
            <a:ext cx="1422400" cy="508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233160" y="2120900"/>
            <a:ext cx="1072515" cy="398780"/>
          </a:xfrm>
          <a:prstGeom prst="rect">
            <a:avLst/>
          </a:prstGeom>
          <a:ln>
            <a:noFill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zh-CN" sz="1000"/>
              <a:t>IPC/RPC (arrow)</a:t>
            </a:r>
            <a:endParaRPr lang="en-US" altLang="zh-CN" sz="1000"/>
          </a:p>
        </p:txBody>
      </p:sp>
      <p:sp>
        <p:nvSpPr>
          <p:cNvPr id="20" name="文本框 19"/>
          <p:cNvSpPr txBox="1"/>
          <p:nvPr/>
        </p:nvSpPr>
        <p:spPr>
          <a:xfrm>
            <a:off x="243840" y="294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目前的实现方式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129405" y="1927860"/>
            <a:ext cx="2197735" cy="3415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127625" y="3143250"/>
            <a:ext cx="1071880" cy="149479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EA3B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414010" y="4613275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mem</a:t>
            </a:r>
            <a:endParaRPr lang="en-US" altLang="zh-CN" sz="1000"/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3468370" y="3234690"/>
            <a:ext cx="689610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csv bytes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7334250" y="3272790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cxnSp>
        <p:nvCxnSpPr>
          <p:cNvPr id="32" name="肘形连接符 31"/>
          <p:cNvCxnSpPr>
            <a:stCxn id="8" idx="2"/>
          </p:cNvCxnSpPr>
          <p:nvPr/>
        </p:nvCxnSpPr>
        <p:spPr>
          <a:xfrm rot="5400000" flipV="1">
            <a:off x="2955290" y="1923415"/>
            <a:ext cx="630555" cy="2458085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>
            <p:custDataLst>
              <p:tags r:id="rId8"/>
            </p:custDataLst>
          </p:nvPr>
        </p:nvSpPr>
        <p:spPr>
          <a:xfrm>
            <a:off x="7527925" y="2263140"/>
            <a:ext cx="902335" cy="50165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 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SDK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</a:t>
            </a:r>
            <a:r>
              <a:rPr lang="en-US" altLang="zh-CN" sz="800">
                <a:solidFill>
                  <a:schemeClr val="bg1"/>
                </a:solidFill>
                <a:sym typeface="+mn-ea"/>
              </a:rPr>
              <a:t>/Python</a:t>
            </a:r>
            <a:r>
              <a:rPr lang="zh-CN" altLang="en-US" sz="8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9"/>
            </p:custDataLst>
          </p:nvPr>
        </p:nvGraphicFramePr>
        <p:xfrm>
          <a:off x="5451475" y="3230880"/>
          <a:ext cx="688340" cy="36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085"/>
                <a:gridCol w="172085"/>
                <a:gridCol w="172085"/>
                <a:gridCol w="172085"/>
              </a:tblGrid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155565" y="3186430"/>
            <a:ext cx="4159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fd1</a:t>
            </a:r>
            <a:endParaRPr lang="en-US" altLang="zh-CN" sz="900"/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152390" y="3653155"/>
            <a:ext cx="4159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fd2</a:t>
            </a:r>
            <a:endParaRPr lang="en-US" altLang="zh-CN" sz="900"/>
          </a:p>
        </p:txBody>
      </p:sp>
      <p:graphicFrame>
        <p:nvGraphicFramePr>
          <p:cNvPr id="21" name="表格 20"/>
          <p:cNvGraphicFramePr/>
          <p:nvPr>
            <p:custDataLst>
              <p:tags r:id="rId11"/>
            </p:custDataLst>
          </p:nvPr>
        </p:nvGraphicFramePr>
        <p:xfrm>
          <a:off x="5451475" y="3725545"/>
          <a:ext cx="688340" cy="36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085"/>
                <a:gridCol w="172085"/>
                <a:gridCol w="172085"/>
                <a:gridCol w="172085"/>
              </a:tblGrid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4257675" y="3143250"/>
            <a:ext cx="760095" cy="149479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EA3B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4394835" y="4638040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disk</a:t>
            </a:r>
            <a:endParaRPr lang="en-US" altLang="zh-CN" sz="1000"/>
          </a:p>
        </p:txBody>
      </p:sp>
      <p:pic>
        <p:nvPicPr>
          <p:cNvPr id="33" name="图片 32" descr="20281032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7070" y="3301365"/>
            <a:ext cx="304800" cy="3048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4442460" y="3523615"/>
            <a:ext cx="41592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.csv</a:t>
            </a:r>
            <a:endParaRPr lang="en-US" altLang="zh-CN" sz="900"/>
          </a:p>
        </p:txBody>
      </p:sp>
      <p:pic>
        <p:nvPicPr>
          <p:cNvPr id="39" name="图片 38" descr="2028103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7070" y="3770630"/>
            <a:ext cx="304800" cy="3048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4442460" y="3997325"/>
            <a:ext cx="41592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.png</a:t>
            </a:r>
            <a:endParaRPr lang="en-US" altLang="zh-CN" sz="900"/>
          </a:p>
        </p:txBody>
      </p:sp>
      <p:cxnSp>
        <p:nvCxnSpPr>
          <p:cNvPr id="41" name="肘形连接符 40"/>
          <p:cNvCxnSpPr>
            <a:stCxn id="8" idx="2"/>
            <a:endCxn id="39" idx="1"/>
          </p:cNvCxnSpPr>
          <p:nvPr>
            <p:custDataLst>
              <p:tags r:id="rId19"/>
            </p:custDataLst>
          </p:nvPr>
        </p:nvCxnSpPr>
        <p:spPr>
          <a:xfrm rot="5400000" flipV="1">
            <a:off x="2726690" y="2152015"/>
            <a:ext cx="1085215" cy="2455545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3468370" y="3693160"/>
            <a:ext cx="759460" cy="22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png bytes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969645" y="2983865"/>
            <a:ext cx="107188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HTTP 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response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indent="0" algn="ctr">
              <a:buFont typeface="+mj-ea"/>
              <a:buNone/>
            </a:pP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4" name="直接箭头连接符 43"/>
          <p:cNvCxnSpPr>
            <a:stCxn id="33" idx="3"/>
            <a:endCxn id="12" idx="2"/>
          </p:cNvCxnSpPr>
          <p:nvPr/>
        </p:nvCxnSpPr>
        <p:spPr>
          <a:xfrm>
            <a:off x="4801870" y="3453765"/>
            <a:ext cx="56197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9" idx="3"/>
            <a:endCxn id="19" idx="2"/>
          </p:cNvCxnSpPr>
          <p:nvPr>
            <p:custDataLst>
              <p:tags r:id="rId22"/>
            </p:custDataLst>
          </p:nvPr>
        </p:nvCxnSpPr>
        <p:spPr>
          <a:xfrm flipV="1">
            <a:off x="4801870" y="3920490"/>
            <a:ext cx="558800" cy="254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>
            <p:custDataLst>
              <p:tags r:id="rId23"/>
            </p:custDataLst>
          </p:nvPr>
        </p:nvSpPr>
        <p:spPr>
          <a:xfrm>
            <a:off x="5205095" y="4409440"/>
            <a:ext cx="94678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arrow table</a:t>
            </a:r>
            <a:endParaRPr lang="en-US" altLang="zh-CN" sz="1000"/>
          </a:p>
        </p:txBody>
      </p:sp>
      <p:sp>
        <p:nvSpPr>
          <p:cNvPr id="48" name="矩形 47"/>
          <p:cNvSpPr/>
          <p:nvPr>
            <p:custDataLst>
              <p:tags r:id="rId24"/>
            </p:custDataLst>
          </p:nvPr>
        </p:nvSpPr>
        <p:spPr>
          <a:xfrm>
            <a:off x="7214870" y="1927860"/>
            <a:ext cx="2329180" cy="3415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9" name="文本框 48"/>
          <p:cNvSpPr txBox="1"/>
          <p:nvPr>
            <p:custDataLst>
              <p:tags r:id="rId25"/>
            </p:custDataLst>
          </p:nvPr>
        </p:nvSpPr>
        <p:spPr>
          <a:xfrm>
            <a:off x="4696460" y="3234690"/>
            <a:ext cx="688975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to_arrow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26"/>
            </p:custDataLst>
          </p:nvPr>
        </p:nvSpPr>
        <p:spPr>
          <a:xfrm>
            <a:off x="8209915" y="3202940"/>
            <a:ext cx="415925" cy="21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fd1</a:t>
            </a:r>
            <a:endParaRPr lang="en-US" altLang="zh-CN" sz="900"/>
          </a:p>
        </p:txBody>
      </p:sp>
      <p:sp>
        <p:nvSpPr>
          <p:cNvPr id="53" name="文本框 52"/>
          <p:cNvSpPr txBox="1"/>
          <p:nvPr>
            <p:custDataLst>
              <p:tags r:id="rId27"/>
            </p:custDataLst>
          </p:nvPr>
        </p:nvSpPr>
        <p:spPr>
          <a:xfrm>
            <a:off x="7274560" y="3014345"/>
            <a:ext cx="1131570" cy="220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read_all, filter, sql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矩形 54"/>
          <p:cNvSpPr/>
          <p:nvPr>
            <p:custDataLst>
              <p:tags r:id="rId28"/>
            </p:custDataLst>
          </p:nvPr>
        </p:nvSpPr>
        <p:spPr>
          <a:xfrm>
            <a:off x="7334250" y="3770630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29"/>
            </p:custDataLst>
          </p:nvPr>
        </p:nvSpPr>
        <p:spPr>
          <a:xfrm>
            <a:off x="8209915" y="3721735"/>
            <a:ext cx="415925" cy="21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fd2</a:t>
            </a:r>
            <a:endParaRPr lang="en-US" altLang="zh-CN" sz="900"/>
          </a:p>
        </p:txBody>
      </p:sp>
      <p:cxnSp>
        <p:nvCxnSpPr>
          <p:cNvPr id="57" name="直接箭头连接符 56"/>
          <p:cNvCxnSpPr/>
          <p:nvPr>
            <p:custDataLst>
              <p:tags r:id="rId30"/>
            </p:custDataLst>
          </p:nvPr>
        </p:nvCxnSpPr>
        <p:spPr>
          <a:xfrm>
            <a:off x="6189980" y="3422650"/>
            <a:ext cx="116141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>
            <p:custDataLst>
              <p:tags r:id="rId31"/>
            </p:custDataLst>
          </p:nvPr>
        </p:nvCxnSpPr>
        <p:spPr>
          <a:xfrm flipV="1">
            <a:off x="6151880" y="3904615"/>
            <a:ext cx="1194435" cy="508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2852420" y="3347085"/>
            <a:ext cx="688340" cy="650240"/>
            <a:chOff x="5373" y="5320"/>
            <a:chExt cx="1084" cy="1024"/>
          </a:xfrm>
        </p:grpSpPr>
        <p:sp>
          <p:nvSpPr>
            <p:cNvPr id="63" name="流程图: 直接访问存储器 62"/>
            <p:cNvSpPr/>
            <p:nvPr/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32"/>
              </p:custDataLst>
            </p:nvPr>
          </p:nvSpPr>
          <p:spPr>
            <a:xfrm>
              <a:off x="5373" y="5607"/>
              <a:ext cx="1085" cy="3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format?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0" y="5882005"/>
            <a:ext cx="118046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i="1"/>
              <a:t>1. </a:t>
            </a:r>
            <a:r>
              <a:rPr lang="zh-CN" altLang="en-US" sz="1000" i="1"/>
              <a:t>在</a:t>
            </a:r>
            <a:r>
              <a:rPr lang="en-US" altLang="zh-CN" sz="1000" i="1"/>
              <a:t> faird </a:t>
            </a:r>
            <a:r>
              <a:rPr lang="zh-CN" altLang="en-US" sz="1000" i="1"/>
              <a:t>内部（</a:t>
            </a:r>
            <a:r>
              <a:rPr lang="en-US" altLang="zh-CN" sz="1000" i="1"/>
              <a:t>parser </a:t>
            </a:r>
            <a:r>
              <a:rPr lang="zh-CN" altLang="en-US" sz="1000" i="1"/>
              <a:t>模块）判断</a:t>
            </a:r>
            <a:r>
              <a:rPr lang="en-US" altLang="zh-CN" sz="1000" i="1"/>
              <a:t> format</a:t>
            </a:r>
            <a:r>
              <a:rPr lang="zh-CN" altLang="en-US" sz="1000" i="1"/>
              <a:t>，把接收到的</a:t>
            </a:r>
            <a:r>
              <a:rPr lang="en-US" altLang="zh-CN" sz="1000" i="1"/>
              <a:t> http </a:t>
            </a:r>
            <a:r>
              <a:rPr lang="zh-CN" altLang="en-US" sz="1000" i="1"/>
              <a:t>数据存储为对应格式的文件，保存在</a:t>
            </a:r>
            <a:r>
              <a:rPr lang="en-US" altLang="zh-CN" sz="1000" i="1"/>
              <a:t> faird </a:t>
            </a:r>
            <a:r>
              <a:rPr lang="zh-CN" altLang="en-US" sz="1000" i="1"/>
              <a:t>磁盘（临时</a:t>
            </a:r>
            <a:r>
              <a:rPr lang="zh-CN" altLang="en-US" sz="1000" i="1"/>
              <a:t>文件）</a:t>
            </a:r>
            <a:endParaRPr lang="zh-CN" altLang="en-US" sz="1000" i="1"/>
          </a:p>
          <a:p>
            <a:r>
              <a:rPr lang="en-US" altLang="zh-CN" sz="1000" i="1"/>
              <a:t>2. </a:t>
            </a:r>
            <a:r>
              <a:rPr lang="zh-CN" altLang="en-US" sz="1000" i="1"/>
              <a:t>在</a:t>
            </a:r>
            <a:r>
              <a:rPr lang="en-US" altLang="zh-CN" sz="1000" i="1"/>
              <a:t> faird </a:t>
            </a:r>
            <a:r>
              <a:rPr lang="zh-CN" altLang="en-US" sz="1000" i="1"/>
              <a:t>内部（具体</a:t>
            </a:r>
            <a:r>
              <a:rPr lang="en-US" altLang="zh-CN" sz="1000" i="1"/>
              <a:t> parser</a:t>
            </a:r>
            <a:r>
              <a:rPr lang="zh-CN" altLang="en-US" sz="1000" i="1"/>
              <a:t>）中完成</a:t>
            </a:r>
            <a:r>
              <a:rPr lang="en-US" altLang="zh-CN" sz="1000" i="1"/>
              <a:t> to_arrow </a:t>
            </a:r>
            <a:r>
              <a:rPr lang="zh-CN" altLang="en-US" sz="1000" i="1"/>
              <a:t>步骤，将各种格式的磁盘文件转化为内存中的</a:t>
            </a:r>
            <a:r>
              <a:rPr lang="en-US" altLang="zh-CN" sz="1000" i="1"/>
              <a:t> arrow table</a:t>
            </a:r>
            <a:r>
              <a:rPr lang="zh-CN" altLang="en-US" sz="1000" i="1"/>
              <a:t>。每个</a:t>
            </a:r>
            <a:r>
              <a:rPr lang="en-US" altLang="zh-CN" sz="1000" i="1"/>
              <a:t> arrow table </a:t>
            </a:r>
            <a:r>
              <a:rPr lang="zh-CN" altLang="en-US" sz="1000" i="1"/>
              <a:t>唯一</a:t>
            </a:r>
            <a:r>
              <a:rPr lang="en-US" altLang="zh-CN" sz="1000" i="1"/>
              <a:t> fd </a:t>
            </a:r>
            <a:r>
              <a:rPr lang="zh-CN" altLang="en-US" sz="1000" i="1"/>
              <a:t>标识，存储</a:t>
            </a:r>
            <a:r>
              <a:rPr lang="zh-CN" altLang="en-US" sz="1000" i="1"/>
              <a:t>着这个文件的全量数据</a:t>
            </a:r>
            <a:endParaRPr lang="zh-CN" altLang="en-US" sz="1000" i="1"/>
          </a:p>
          <a:p>
            <a:r>
              <a:rPr lang="en-US" altLang="zh-CN" sz="1000" i="1"/>
              <a:t>3. </a:t>
            </a:r>
            <a:r>
              <a:rPr lang="zh-CN" altLang="en-US" sz="1000" i="1"/>
              <a:t>当各种客户端通过</a:t>
            </a:r>
            <a:r>
              <a:rPr lang="en-US" altLang="zh-CN" sz="1000" i="1"/>
              <a:t> faird SDK </a:t>
            </a:r>
            <a:r>
              <a:rPr lang="zh-CN" altLang="en-US" sz="1000" i="1"/>
              <a:t>中的</a:t>
            </a:r>
            <a:r>
              <a:rPr lang="en-US" altLang="zh-CN" sz="1000" i="1"/>
              <a:t> DataFrame API </a:t>
            </a:r>
            <a:r>
              <a:rPr lang="zh-CN" altLang="en-US" sz="1000" i="1"/>
              <a:t>进行操作时，通过</a:t>
            </a:r>
            <a:r>
              <a:rPr lang="en-US" altLang="zh-CN" sz="1000" i="1"/>
              <a:t>fd</a:t>
            </a:r>
            <a:r>
              <a:rPr lang="zh-CN" altLang="en-US" sz="1000" i="1"/>
              <a:t>标识定位到</a:t>
            </a:r>
            <a:r>
              <a:rPr lang="en-US" altLang="zh-CN" sz="1000" i="1"/>
              <a:t> faird </a:t>
            </a:r>
            <a:r>
              <a:rPr lang="zh-CN" altLang="en-US" sz="1000" i="1"/>
              <a:t>内存中的</a:t>
            </a:r>
            <a:r>
              <a:rPr lang="en-US" altLang="zh-CN" sz="1000" i="1"/>
              <a:t> arrow table</a:t>
            </a:r>
            <a:r>
              <a:rPr lang="zh-CN" altLang="en-US" sz="1000" i="1"/>
              <a:t>，在</a:t>
            </a:r>
            <a:r>
              <a:rPr lang="en-US" altLang="zh-CN" sz="1000" i="1"/>
              <a:t> faird server </a:t>
            </a:r>
            <a:r>
              <a:rPr lang="zh-CN" altLang="en-US" sz="1000" i="1"/>
              <a:t>中完成</a:t>
            </a:r>
            <a:r>
              <a:rPr lang="en-US" altLang="zh-CN" sz="1000" i="1"/>
              <a:t> filter/sql </a:t>
            </a:r>
            <a:r>
              <a:rPr lang="zh-CN" altLang="en-US" sz="1000" i="1"/>
              <a:t>等操作后，将结果数据通过</a:t>
            </a:r>
            <a:r>
              <a:rPr lang="en-US" altLang="zh-CN" sz="1000" i="1"/>
              <a:t> Flight RPC </a:t>
            </a:r>
            <a:r>
              <a:rPr lang="zh-CN" altLang="en-US" sz="1000" i="1"/>
              <a:t>以</a:t>
            </a:r>
            <a:r>
              <a:rPr lang="en-US" altLang="zh-CN" sz="1000" i="1"/>
              <a:t> arrow </a:t>
            </a:r>
            <a:r>
              <a:rPr lang="zh-CN" altLang="en-US" sz="1000" i="1"/>
              <a:t>格式返回</a:t>
            </a:r>
            <a:endParaRPr lang="zh-CN" altLang="en-US" sz="1000" i="1"/>
          </a:p>
          <a:p>
            <a:r>
              <a:rPr lang="en-US" altLang="zh-CN" sz="1000" i="1"/>
              <a:t>4.</a:t>
            </a:r>
            <a:r>
              <a:rPr lang="zh-CN" altLang="en-US" sz="1000" i="1"/>
              <a:t>客户端可以直接消费</a:t>
            </a:r>
            <a:r>
              <a:rPr lang="en-US" altLang="zh-CN" sz="1000" i="1"/>
              <a:t> arrow </a:t>
            </a:r>
            <a:r>
              <a:rPr lang="zh-CN" altLang="en-US" sz="1000" i="1"/>
              <a:t>数据，也可以通过合适的</a:t>
            </a:r>
            <a:r>
              <a:rPr lang="en-US" altLang="zh-CN" sz="1000" i="1"/>
              <a:t> transformer</a:t>
            </a:r>
            <a:r>
              <a:rPr lang="zh-CN" altLang="en-US" sz="1000" i="1"/>
              <a:t>，进一步转换为所需的数据格式</a:t>
            </a:r>
            <a:endParaRPr lang="zh-CN" altLang="en-US" sz="1000" i="1"/>
          </a:p>
        </p:txBody>
      </p:sp>
      <p:sp>
        <p:nvSpPr>
          <p:cNvPr id="67" name="文本框 66"/>
          <p:cNvSpPr txBox="1"/>
          <p:nvPr>
            <p:custDataLst>
              <p:tags r:id="rId33"/>
            </p:custDataLst>
          </p:nvPr>
        </p:nvSpPr>
        <p:spPr>
          <a:xfrm>
            <a:off x="6327140" y="3452495"/>
            <a:ext cx="94742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arrow table </a:t>
            </a:r>
            <a:endParaRPr lang="en-US" altLang="zh-CN" sz="900">
              <a:solidFill>
                <a:schemeClr val="accent6"/>
              </a:solidFill>
            </a:endParaRPr>
          </a:p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/ record batch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74" name="文本框 73"/>
          <p:cNvSpPr txBox="1"/>
          <p:nvPr>
            <p:custDataLst>
              <p:tags r:id="rId34"/>
            </p:custDataLst>
          </p:nvPr>
        </p:nvSpPr>
        <p:spPr>
          <a:xfrm>
            <a:off x="8958580" y="3941445"/>
            <a:ext cx="68770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to_png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5" name="直接箭头连接符 74"/>
          <p:cNvCxnSpPr/>
          <p:nvPr>
            <p:custDataLst>
              <p:tags r:id="rId35"/>
            </p:custDataLst>
          </p:nvPr>
        </p:nvCxnSpPr>
        <p:spPr>
          <a:xfrm>
            <a:off x="8235950" y="3904615"/>
            <a:ext cx="153860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/>
          <p:nvPr>
            <p:custDataLst>
              <p:tags r:id="rId36"/>
            </p:custDataLst>
          </p:nvPr>
        </p:nvSpPr>
        <p:spPr>
          <a:xfrm>
            <a:off x="9774555" y="3770630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PIL image</a:t>
            </a:r>
            <a:endParaRPr lang="en-US" altLang="zh-CN" sz="1000">
              <a:solidFill>
                <a:schemeClr val="tx1"/>
              </a:solidFill>
            </a:endParaRPr>
          </a:p>
        </p:txBody>
      </p:sp>
      <p:cxnSp>
        <p:nvCxnSpPr>
          <p:cNvPr id="78" name="直接箭头连接符 77"/>
          <p:cNvCxnSpPr>
            <a:stCxn id="25" idx="3"/>
            <a:endCxn id="79" idx="1"/>
          </p:cNvCxnSpPr>
          <p:nvPr>
            <p:custDataLst>
              <p:tags r:id="rId37"/>
            </p:custDataLst>
          </p:nvPr>
        </p:nvCxnSpPr>
        <p:spPr>
          <a:xfrm>
            <a:off x="8235950" y="3406775"/>
            <a:ext cx="153860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>
            <p:custDataLst>
              <p:tags r:id="rId38"/>
            </p:custDataLst>
          </p:nvPr>
        </p:nvSpPr>
        <p:spPr>
          <a:xfrm>
            <a:off x="9774555" y="3272790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Pandas df</a:t>
            </a:r>
            <a:endParaRPr lang="en-US" altLang="zh-CN" sz="1000">
              <a:solidFill>
                <a:schemeClr val="tx1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467090" y="3347085"/>
            <a:ext cx="947420" cy="650240"/>
            <a:chOff x="5123" y="5320"/>
            <a:chExt cx="1492" cy="1024"/>
          </a:xfrm>
        </p:grpSpPr>
        <p:sp>
          <p:nvSpPr>
            <p:cNvPr id="69" name="流程图: 直接访问存储器 68"/>
            <p:cNvSpPr/>
            <p:nvPr>
              <p:custDataLst>
                <p:tags r:id="rId39"/>
              </p:custDataLst>
            </p:nvPr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40"/>
              </p:custDataLst>
            </p:nvPr>
          </p:nvSpPr>
          <p:spPr>
            <a:xfrm>
              <a:off x="5123" y="5645"/>
              <a:ext cx="1492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transformer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80" name="文本框 79"/>
          <p:cNvSpPr txBox="1"/>
          <p:nvPr>
            <p:custDataLst>
              <p:tags r:id="rId41"/>
            </p:custDataLst>
          </p:nvPr>
        </p:nvSpPr>
        <p:spPr>
          <a:xfrm>
            <a:off x="4258310" y="4409440"/>
            <a:ext cx="759460" cy="227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/>
              <a:t>临时</a:t>
            </a:r>
            <a:r>
              <a:rPr lang="zh-CN" altLang="en-US" sz="1000"/>
              <a:t>文件</a:t>
            </a:r>
            <a:endParaRPr lang="zh-CN" altLang="en-US" sz="1000"/>
          </a:p>
        </p:txBody>
      </p:sp>
      <p:sp>
        <p:nvSpPr>
          <p:cNvPr id="81" name="文本框 80"/>
          <p:cNvSpPr txBox="1"/>
          <p:nvPr>
            <p:custDataLst>
              <p:tags r:id="rId42"/>
            </p:custDataLst>
          </p:nvPr>
        </p:nvSpPr>
        <p:spPr>
          <a:xfrm>
            <a:off x="8894445" y="3128645"/>
            <a:ext cx="815975" cy="218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to_pandas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4327525" y="2110105"/>
            <a:ext cx="1422400" cy="80518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 Server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7384415" y="2110105"/>
            <a:ext cx="2945765" cy="8089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1200">
                <a:solidFill>
                  <a:schemeClr val="tx1"/>
                </a:solidFill>
              </a:rPr>
              <a:t>客户端</a:t>
            </a:r>
            <a:endParaRPr lang="zh-CN" altLang="en-US" sz="1200">
              <a:solidFill>
                <a:schemeClr val="tx1"/>
              </a:solidFill>
            </a:endParaRPr>
          </a:p>
          <a:p>
            <a:pPr algn="r"/>
            <a:r>
              <a:rPr lang="en-US" altLang="zh-CN" sz="800">
                <a:solidFill>
                  <a:schemeClr val="tx1"/>
                </a:solidFill>
                <a:sym typeface="+mn-ea"/>
              </a:rPr>
              <a:t>(Java/Python)</a:t>
            </a:r>
            <a:endParaRPr lang="en-US" altLang="zh-CN" sz="8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1330325" y="2186940"/>
            <a:ext cx="1422400" cy="6508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数据发布平台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3"/>
            <a:endCxn id="5" idx="1"/>
          </p:cNvCxnSpPr>
          <p:nvPr/>
        </p:nvCxnSpPr>
        <p:spPr>
          <a:xfrm>
            <a:off x="2752725" y="2512695"/>
            <a:ext cx="15748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997835" y="2136775"/>
            <a:ext cx="81597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HTTP</a:t>
            </a:r>
            <a:endParaRPr lang="en-US" altLang="zh-CN" sz="1000"/>
          </a:p>
          <a:p>
            <a:pPr algn="ctr"/>
            <a:r>
              <a:rPr lang="en-US" altLang="zh-CN" sz="1000"/>
              <a:t>(csv...)</a:t>
            </a:r>
            <a:endParaRPr lang="en-US" altLang="zh-CN" sz="1000"/>
          </a:p>
        </p:txBody>
      </p:sp>
      <p:cxnSp>
        <p:nvCxnSpPr>
          <p:cNvPr id="16" name="直接箭头连接符 15"/>
          <p:cNvCxnSpPr>
            <a:stCxn id="5" idx="3"/>
            <a:endCxn id="7" idx="1"/>
          </p:cNvCxnSpPr>
          <p:nvPr>
            <p:custDataLst>
              <p:tags r:id="rId3"/>
            </p:custDataLst>
          </p:nvPr>
        </p:nvCxnSpPr>
        <p:spPr>
          <a:xfrm>
            <a:off x="5749925" y="2512695"/>
            <a:ext cx="1634490" cy="190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862955" y="2186940"/>
            <a:ext cx="815340" cy="245110"/>
          </a:xfrm>
          <a:prstGeom prst="rect">
            <a:avLst/>
          </a:prstGeom>
          <a:ln>
            <a:noFill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zh-CN" sz="1000"/>
              <a:t>IPC/RPC</a:t>
            </a:r>
            <a:endParaRPr lang="en-US" altLang="zh-CN" sz="1000"/>
          </a:p>
        </p:txBody>
      </p:sp>
      <p:sp>
        <p:nvSpPr>
          <p:cNvPr id="20" name="文本框 19"/>
          <p:cNvSpPr txBox="1"/>
          <p:nvPr/>
        </p:nvSpPr>
        <p:spPr>
          <a:xfrm>
            <a:off x="243840" y="294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方案</a:t>
            </a:r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181475" y="1927860"/>
            <a:ext cx="1681480" cy="3415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7384415" y="3089910"/>
            <a:ext cx="1322070" cy="176974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EA3B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7837805" y="4859655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mem</a:t>
            </a:r>
            <a:endParaRPr lang="en-US" altLang="zh-CN" sz="1000"/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223135" y="3350895"/>
            <a:ext cx="118872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data bytes (chunk)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cxnSp>
        <p:nvCxnSpPr>
          <p:cNvPr id="32" name="肘形连接符 31"/>
          <p:cNvCxnSpPr>
            <a:stCxn id="8" idx="2"/>
            <a:endCxn id="35" idx="1"/>
          </p:cNvCxnSpPr>
          <p:nvPr/>
        </p:nvCxnSpPr>
        <p:spPr>
          <a:xfrm rot="5400000" flipV="1">
            <a:off x="4462145" y="417195"/>
            <a:ext cx="773430" cy="561467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>
            <p:custDataLst>
              <p:tags r:id="rId7"/>
            </p:custDataLst>
          </p:nvPr>
        </p:nvSpPr>
        <p:spPr>
          <a:xfrm>
            <a:off x="7527925" y="2263140"/>
            <a:ext cx="902335" cy="50165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 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SDK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</a:t>
            </a:r>
            <a:r>
              <a:rPr lang="en-US" altLang="zh-CN" sz="800">
                <a:solidFill>
                  <a:schemeClr val="bg1"/>
                </a:solidFill>
                <a:sym typeface="+mn-ea"/>
              </a:rPr>
              <a:t>/Python</a:t>
            </a:r>
            <a:r>
              <a:rPr lang="zh-CN" altLang="en-US" sz="8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41" name="肘形连接符 40"/>
          <p:cNvCxnSpPr>
            <a:stCxn id="8" idx="2"/>
            <a:endCxn id="37" idx="1"/>
          </p:cNvCxnSpPr>
          <p:nvPr>
            <p:custDataLst>
              <p:tags r:id="rId8"/>
            </p:custDataLst>
          </p:nvPr>
        </p:nvCxnSpPr>
        <p:spPr>
          <a:xfrm rot="5400000" flipV="1">
            <a:off x="4278313" y="601028"/>
            <a:ext cx="1141095" cy="561467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9"/>
            </p:custDataLst>
          </p:nvPr>
        </p:nvSpPr>
        <p:spPr>
          <a:xfrm>
            <a:off x="969645" y="2983865"/>
            <a:ext cx="107188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HTTP 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stream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indent="0" algn="ctr">
              <a:buFont typeface="+mj-ea"/>
              <a:buNone/>
            </a:pP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矩形 47"/>
          <p:cNvSpPr/>
          <p:nvPr>
            <p:custDataLst>
              <p:tags r:id="rId10"/>
            </p:custDataLst>
          </p:nvPr>
        </p:nvSpPr>
        <p:spPr>
          <a:xfrm>
            <a:off x="6618605" y="1927860"/>
            <a:ext cx="2469515" cy="3415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66" name="文本框 65"/>
          <p:cNvSpPr txBox="1"/>
          <p:nvPr/>
        </p:nvSpPr>
        <p:spPr>
          <a:xfrm>
            <a:off x="0" y="5791835"/>
            <a:ext cx="118046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i="1"/>
              <a:t>1. faird server </a:t>
            </a:r>
            <a:r>
              <a:rPr lang="zh-CN" altLang="en-US" sz="1000" i="1"/>
              <a:t>只作为数据的转发层，相当于在</a:t>
            </a:r>
            <a:r>
              <a:rPr lang="en-US" altLang="zh-CN" sz="1000" i="1"/>
              <a:t> HTTP API </a:t>
            </a:r>
            <a:r>
              <a:rPr lang="zh-CN" altLang="en-US" sz="1000" i="1"/>
              <a:t>上包装了一层</a:t>
            </a:r>
            <a:r>
              <a:rPr lang="en-US" altLang="zh-CN" sz="1000" i="1"/>
              <a:t> RPC </a:t>
            </a:r>
            <a:r>
              <a:rPr lang="zh-CN" altLang="en-US" sz="1000" i="1"/>
              <a:t>服务，</a:t>
            </a:r>
            <a:r>
              <a:rPr lang="en-US" altLang="zh-CN" sz="1000" i="1"/>
              <a:t>RPC</a:t>
            </a:r>
            <a:r>
              <a:rPr lang="zh-CN" altLang="en-US" sz="1000" i="1"/>
              <a:t>传输的数据不是</a:t>
            </a:r>
            <a:r>
              <a:rPr lang="en-US" altLang="zh-CN" sz="1000" i="1"/>
              <a:t> arrow </a:t>
            </a:r>
            <a:r>
              <a:rPr lang="zh-CN" altLang="en-US" sz="1000" i="1"/>
              <a:t>格式</a:t>
            </a:r>
            <a:endParaRPr lang="zh-CN" altLang="en-US" sz="1000" i="1"/>
          </a:p>
          <a:p>
            <a:r>
              <a:rPr lang="en-US" altLang="zh-CN" sz="1000" i="1"/>
              <a:t>2. </a:t>
            </a:r>
            <a:r>
              <a:rPr lang="zh-CN" altLang="en-US" sz="1000" i="1"/>
              <a:t>把</a:t>
            </a:r>
            <a:r>
              <a:rPr lang="en-US" altLang="zh-CN" sz="1000" i="1"/>
              <a:t> faird server </a:t>
            </a:r>
            <a:r>
              <a:rPr lang="zh-CN" altLang="en-US" sz="1000" i="1"/>
              <a:t>的逻辑迁移到的</a:t>
            </a:r>
            <a:r>
              <a:rPr lang="en-US" altLang="zh-CN" sz="1000" i="1"/>
              <a:t> </a:t>
            </a:r>
            <a:r>
              <a:rPr lang="zh-CN" altLang="en-US" sz="1000" i="1"/>
              <a:t>客户端中的</a:t>
            </a:r>
            <a:r>
              <a:rPr lang="en-US" altLang="zh-CN" sz="1000" i="1"/>
              <a:t> faird SDK </a:t>
            </a:r>
            <a:r>
              <a:rPr lang="zh-CN" altLang="en-US" sz="1000" i="1"/>
              <a:t>中，包括</a:t>
            </a:r>
            <a:r>
              <a:rPr lang="en-US" altLang="zh-CN" sz="1000" i="1"/>
              <a:t> to_arrow </a:t>
            </a:r>
            <a:r>
              <a:rPr lang="zh-CN" altLang="en-US" sz="1000" i="1"/>
              <a:t>逻辑、存储、计算、</a:t>
            </a:r>
            <a:r>
              <a:rPr lang="zh-CN" altLang="en-US" sz="1000" i="1"/>
              <a:t>转化</a:t>
            </a:r>
            <a:endParaRPr lang="zh-CN" altLang="en-US" sz="1000" i="1"/>
          </a:p>
          <a:p>
            <a:r>
              <a:rPr lang="en-US" altLang="zh-CN" sz="1000" i="1"/>
              <a:t>3. </a:t>
            </a:r>
            <a:r>
              <a:rPr lang="zh-CN" altLang="en-US" sz="1000" i="1"/>
              <a:t>不可行？虽然没有占用</a:t>
            </a:r>
            <a:r>
              <a:rPr lang="en-US" altLang="zh-CN" sz="1000" i="1"/>
              <a:t> faird server </a:t>
            </a:r>
            <a:r>
              <a:rPr lang="zh-CN" altLang="en-US" sz="1000" i="1"/>
              <a:t>内存了，但是对客户端的内存、计算要求较高，</a:t>
            </a:r>
            <a:r>
              <a:rPr lang="en-US" altLang="zh-CN" sz="1000" i="1"/>
              <a:t>faird server</a:t>
            </a:r>
            <a:r>
              <a:rPr lang="zh-CN" altLang="en-US" sz="1000" i="1"/>
              <a:t>本身没有意思，只变成了一个</a:t>
            </a:r>
            <a:r>
              <a:rPr lang="en-US" altLang="zh-CN" sz="1000" i="1"/>
              <a:t>SDK</a:t>
            </a:r>
            <a:endParaRPr lang="en-US" altLang="zh-CN" sz="1000" i="1"/>
          </a:p>
        </p:txBody>
      </p:sp>
      <p:sp>
        <p:nvSpPr>
          <p:cNvPr id="74" name="文本框 73"/>
          <p:cNvSpPr txBox="1"/>
          <p:nvPr>
            <p:custDataLst>
              <p:tags r:id="rId11"/>
            </p:custDataLst>
          </p:nvPr>
        </p:nvSpPr>
        <p:spPr>
          <a:xfrm>
            <a:off x="9165590" y="4074160"/>
            <a:ext cx="68770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to_png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5" name="直接箭头连接符 74"/>
          <p:cNvCxnSpPr>
            <a:stCxn id="37" idx="3"/>
            <a:endCxn id="77" idx="1"/>
          </p:cNvCxnSpPr>
          <p:nvPr>
            <p:custDataLst>
              <p:tags r:id="rId12"/>
            </p:custDataLst>
          </p:nvPr>
        </p:nvCxnSpPr>
        <p:spPr>
          <a:xfrm>
            <a:off x="8557895" y="3978910"/>
            <a:ext cx="1148080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/>
          <p:nvPr>
            <p:custDataLst>
              <p:tags r:id="rId13"/>
            </p:custDataLst>
          </p:nvPr>
        </p:nvSpPr>
        <p:spPr>
          <a:xfrm>
            <a:off x="9705975" y="3844925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PIL image</a:t>
            </a:r>
            <a:endParaRPr lang="en-US" altLang="zh-CN" sz="1000">
              <a:solidFill>
                <a:schemeClr val="tx1"/>
              </a:solidFill>
            </a:endParaRPr>
          </a:p>
        </p:txBody>
      </p:sp>
      <p:cxnSp>
        <p:nvCxnSpPr>
          <p:cNvPr id="78" name="直接箭头连接符 77"/>
          <p:cNvCxnSpPr>
            <a:stCxn id="35" idx="3"/>
            <a:endCxn id="79" idx="1"/>
          </p:cNvCxnSpPr>
          <p:nvPr>
            <p:custDataLst>
              <p:tags r:id="rId14"/>
            </p:custDataLst>
          </p:nvPr>
        </p:nvCxnSpPr>
        <p:spPr>
          <a:xfrm>
            <a:off x="8557895" y="3611245"/>
            <a:ext cx="1148080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>
            <p:custDataLst>
              <p:tags r:id="rId15"/>
            </p:custDataLst>
          </p:nvPr>
        </p:nvSpPr>
        <p:spPr>
          <a:xfrm>
            <a:off x="9705975" y="3477260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Pandas df</a:t>
            </a:r>
            <a:endParaRPr lang="en-US" altLang="zh-CN" sz="1000">
              <a:solidFill>
                <a:schemeClr val="tx1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706485" y="3477260"/>
            <a:ext cx="947420" cy="650240"/>
            <a:chOff x="5123" y="5320"/>
            <a:chExt cx="1492" cy="1024"/>
          </a:xfrm>
        </p:grpSpPr>
        <p:sp>
          <p:nvSpPr>
            <p:cNvPr id="69" name="流程图: 直接访问存储器 68"/>
            <p:cNvSpPr/>
            <p:nvPr>
              <p:custDataLst>
                <p:tags r:id="rId16"/>
              </p:custDataLst>
            </p:nvPr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17"/>
              </p:custDataLst>
            </p:nvPr>
          </p:nvSpPr>
          <p:spPr>
            <a:xfrm>
              <a:off x="5123" y="5645"/>
              <a:ext cx="1492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transformer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18"/>
            </p:custDataLst>
          </p:nvPr>
        </p:nvSpPr>
        <p:spPr>
          <a:xfrm>
            <a:off x="2223135" y="3791585"/>
            <a:ext cx="118872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data bytes (chunk)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9"/>
            </p:custDataLst>
          </p:nvPr>
        </p:nvGraphicFramePr>
        <p:xfrm>
          <a:off x="4307840" y="3225165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20"/>
            </p:custDataLst>
          </p:nvPr>
        </p:nvGraphicFramePr>
        <p:xfrm>
          <a:off x="4425315" y="3371215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6125210" y="3486785"/>
            <a:ext cx="688340" cy="650240"/>
            <a:chOff x="5373" y="5320"/>
            <a:chExt cx="1084" cy="1024"/>
          </a:xfrm>
        </p:grpSpPr>
        <p:sp>
          <p:nvSpPr>
            <p:cNvPr id="26" name="流程图: 直接访问存储器 25"/>
            <p:cNvSpPr/>
            <p:nvPr>
              <p:custDataLst>
                <p:tags r:id="rId21"/>
              </p:custDataLst>
            </p:nvPr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373" y="5607"/>
              <a:ext cx="1085" cy="3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format?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6618605" y="3265805"/>
            <a:ext cx="71437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csv bytes (chunk)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graphicFrame>
        <p:nvGraphicFramePr>
          <p:cNvPr id="29" name="表格 28"/>
          <p:cNvGraphicFramePr/>
          <p:nvPr>
            <p:custDataLst>
              <p:tags r:id="rId24"/>
            </p:custDataLst>
          </p:nvPr>
        </p:nvGraphicFramePr>
        <p:xfrm>
          <a:off x="7468870" y="3292475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7320280" y="3089910"/>
            <a:ext cx="688975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to_arrow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4" name="表格 33"/>
          <p:cNvGraphicFramePr/>
          <p:nvPr>
            <p:custDataLst>
              <p:tags r:id="rId26"/>
            </p:custDataLst>
          </p:nvPr>
        </p:nvGraphicFramePr>
        <p:xfrm>
          <a:off x="4307840" y="3816350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</a:tr>
            </a:tbl>
          </a:graphicData>
        </a:graphic>
      </p:graphicFrame>
      <p:sp>
        <p:nvSpPr>
          <p:cNvPr id="35" name="矩形 34"/>
          <p:cNvSpPr/>
          <p:nvPr>
            <p:custDataLst>
              <p:tags r:id="rId27"/>
            </p:custDataLst>
          </p:nvPr>
        </p:nvSpPr>
        <p:spPr>
          <a:xfrm>
            <a:off x="7656195" y="3477260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28"/>
            </p:custDataLst>
          </p:nvPr>
        </p:nvSpPr>
        <p:spPr>
          <a:xfrm>
            <a:off x="6670040" y="4010660"/>
            <a:ext cx="71437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png bytes (chunk)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37" name="矩形 36"/>
          <p:cNvSpPr/>
          <p:nvPr>
            <p:custDataLst>
              <p:tags r:id="rId29"/>
            </p:custDataLst>
          </p:nvPr>
        </p:nvSpPr>
        <p:spPr>
          <a:xfrm>
            <a:off x="7656195" y="3844925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>
            <p:custDataLst>
              <p:tags r:id="rId30"/>
            </p:custDataLst>
          </p:nvPr>
        </p:nvSpPr>
        <p:spPr>
          <a:xfrm>
            <a:off x="7468870" y="4137025"/>
            <a:ext cx="688975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to_arrow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2" name="表格 51"/>
          <p:cNvGraphicFramePr/>
          <p:nvPr>
            <p:custDataLst>
              <p:tags r:id="rId31"/>
            </p:custDataLst>
          </p:nvPr>
        </p:nvGraphicFramePr>
        <p:xfrm>
          <a:off x="7634605" y="4339590"/>
          <a:ext cx="688340" cy="36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890"/>
                <a:gridCol w="208280"/>
                <a:gridCol w="172085"/>
                <a:gridCol w="172085"/>
              </a:tblGrid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>
            <p:custDataLst>
              <p:tags r:id="rId32"/>
            </p:custDataLst>
          </p:nvPr>
        </p:nvSpPr>
        <p:spPr>
          <a:xfrm>
            <a:off x="9088120" y="3265805"/>
            <a:ext cx="81597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to_pandas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4539615" y="1907540"/>
            <a:ext cx="1422400" cy="80518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 Server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7384415" y="1900555"/>
            <a:ext cx="3235960" cy="8089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1200">
                <a:solidFill>
                  <a:schemeClr val="tx1"/>
                </a:solidFill>
              </a:rPr>
              <a:t>客户端</a:t>
            </a:r>
            <a:endParaRPr lang="zh-CN" altLang="en-US" sz="1200">
              <a:solidFill>
                <a:schemeClr val="tx1"/>
              </a:solidFill>
            </a:endParaRPr>
          </a:p>
          <a:p>
            <a:pPr algn="r"/>
            <a:r>
              <a:rPr lang="en-US" altLang="zh-CN" sz="800">
                <a:solidFill>
                  <a:schemeClr val="tx1"/>
                </a:solidFill>
                <a:sym typeface="+mn-ea"/>
              </a:rPr>
              <a:t>(Java/Python)</a:t>
            </a:r>
            <a:endParaRPr lang="en-US" altLang="zh-CN" sz="8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1330325" y="1977390"/>
            <a:ext cx="1422400" cy="6508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数据发布平台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3"/>
            <a:endCxn id="5" idx="1"/>
          </p:cNvCxnSpPr>
          <p:nvPr/>
        </p:nvCxnSpPr>
        <p:spPr>
          <a:xfrm>
            <a:off x="2752725" y="2303145"/>
            <a:ext cx="1786890" cy="698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997835" y="1927225"/>
            <a:ext cx="81597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HTTP</a:t>
            </a:r>
            <a:endParaRPr lang="en-US" altLang="zh-CN" sz="1000"/>
          </a:p>
          <a:p>
            <a:pPr algn="ctr"/>
            <a:r>
              <a:rPr lang="en-US" altLang="zh-CN" sz="1000"/>
              <a:t>(csv...)</a:t>
            </a:r>
            <a:endParaRPr lang="en-US" altLang="zh-CN" sz="1000"/>
          </a:p>
        </p:txBody>
      </p:sp>
      <p:cxnSp>
        <p:nvCxnSpPr>
          <p:cNvPr id="16" name="直接箭头连接符 15"/>
          <p:cNvCxnSpPr>
            <a:stCxn id="5" idx="3"/>
            <a:endCxn id="7" idx="1"/>
          </p:cNvCxnSpPr>
          <p:nvPr>
            <p:custDataLst>
              <p:tags r:id="rId3"/>
            </p:custDataLst>
          </p:nvPr>
        </p:nvCxnSpPr>
        <p:spPr>
          <a:xfrm flipV="1">
            <a:off x="5962015" y="2305050"/>
            <a:ext cx="1422400" cy="508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233160" y="1911350"/>
            <a:ext cx="1072515" cy="398780"/>
          </a:xfrm>
          <a:prstGeom prst="rect">
            <a:avLst/>
          </a:prstGeom>
          <a:ln>
            <a:noFill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zh-CN" sz="1000"/>
              <a:t>IPC/RPC (arrow)</a:t>
            </a:r>
            <a:endParaRPr lang="en-US" altLang="zh-CN" sz="1000"/>
          </a:p>
        </p:txBody>
      </p:sp>
      <p:sp>
        <p:nvSpPr>
          <p:cNvPr id="20" name="文本框 19"/>
          <p:cNvSpPr txBox="1"/>
          <p:nvPr/>
        </p:nvSpPr>
        <p:spPr>
          <a:xfrm>
            <a:off x="243840" y="294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方案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129405" y="1718310"/>
            <a:ext cx="2197735" cy="37090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127625" y="2933700"/>
            <a:ext cx="1071880" cy="149479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EA3B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414010" y="4403725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mem</a:t>
            </a:r>
            <a:endParaRPr lang="en-US" altLang="zh-CN" sz="1000"/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3468370" y="3025140"/>
            <a:ext cx="689610" cy="20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csv bytes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7334250" y="3063240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cxnSp>
        <p:nvCxnSpPr>
          <p:cNvPr id="32" name="肘形连接符 31"/>
          <p:cNvCxnSpPr>
            <a:stCxn id="8" idx="2"/>
          </p:cNvCxnSpPr>
          <p:nvPr/>
        </p:nvCxnSpPr>
        <p:spPr>
          <a:xfrm rot="5400000" flipV="1">
            <a:off x="2955290" y="1713865"/>
            <a:ext cx="630555" cy="2458085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>
            <p:custDataLst>
              <p:tags r:id="rId8"/>
            </p:custDataLst>
          </p:nvPr>
        </p:nvSpPr>
        <p:spPr>
          <a:xfrm>
            <a:off x="7527925" y="2053590"/>
            <a:ext cx="902335" cy="50165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faird 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SDK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（Java</a:t>
            </a:r>
            <a:r>
              <a:rPr lang="en-US" altLang="zh-CN" sz="800">
                <a:solidFill>
                  <a:schemeClr val="bg1"/>
                </a:solidFill>
                <a:sym typeface="+mn-ea"/>
              </a:rPr>
              <a:t>/Python</a:t>
            </a:r>
            <a:r>
              <a:rPr lang="zh-CN" altLang="en-US" sz="8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9"/>
            </p:custDataLst>
          </p:nvPr>
        </p:nvGraphicFramePr>
        <p:xfrm>
          <a:off x="5436235" y="3101975"/>
          <a:ext cx="688340" cy="36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085"/>
                <a:gridCol w="172085"/>
                <a:gridCol w="172085"/>
                <a:gridCol w="172085"/>
              </a:tblGrid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140325" y="3057525"/>
            <a:ext cx="4159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fd1</a:t>
            </a:r>
            <a:endParaRPr lang="en-US" altLang="zh-CN" sz="900"/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137150" y="3524250"/>
            <a:ext cx="4159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fd2</a:t>
            </a:r>
            <a:endParaRPr lang="en-US" altLang="zh-CN" sz="900"/>
          </a:p>
        </p:txBody>
      </p:sp>
      <p:graphicFrame>
        <p:nvGraphicFramePr>
          <p:cNvPr id="21" name="表格 20"/>
          <p:cNvGraphicFramePr/>
          <p:nvPr>
            <p:custDataLst>
              <p:tags r:id="rId11"/>
            </p:custDataLst>
          </p:nvPr>
        </p:nvGraphicFramePr>
        <p:xfrm>
          <a:off x="5436235" y="3596640"/>
          <a:ext cx="688340" cy="36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085"/>
                <a:gridCol w="172085"/>
                <a:gridCol w="172085"/>
                <a:gridCol w="172085"/>
              </a:tblGrid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DEA3BE"/>
                    </a:solidFill>
                  </a:tcPr>
                </a:tc>
              </a:tr>
              <a:tr h="122555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T w="12700" cmpd="sng">
                      <a:solidFill>
                        <a:schemeClr val="bg1"/>
                      </a:solidFill>
                      <a:prstDash val="solid"/>
                    </a:lnT>
                    <a:solidFill>
                      <a:srgbClr val="DEA3BE"/>
                    </a:solidFill>
                  </a:tcPr>
                </a:tc>
              </a:tr>
            </a:tbl>
          </a:graphicData>
        </a:graphic>
      </p:graphicFrame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4257675" y="2933700"/>
            <a:ext cx="760095" cy="149479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EA3BE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4394835" y="4428490"/>
            <a:ext cx="485140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disk</a:t>
            </a:r>
            <a:endParaRPr lang="en-US" altLang="zh-CN" sz="1000"/>
          </a:p>
        </p:txBody>
      </p:sp>
      <p:pic>
        <p:nvPicPr>
          <p:cNvPr id="33" name="图片 32" descr="20281032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7070" y="3091815"/>
            <a:ext cx="304800" cy="3048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4442460" y="3314065"/>
            <a:ext cx="575310" cy="227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.</a:t>
            </a:r>
            <a:r>
              <a:rPr lang="en-US" altLang="zh-CN" sz="900"/>
              <a:t>arrow</a:t>
            </a:r>
            <a:endParaRPr lang="en-US" altLang="zh-CN" sz="900"/>
          </a:p>
        </p:txBody>
      </p:sp>
      <p:pic>
        <p:nvPicPr>
          <p:cNvPr id="39" name="图片 38" descr="2028103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7070" y="3561080"/>
            <a:ext cx="304800" cy="3048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4442460" y="3787775"/>
            <a:ext cx="558800" cy="22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.</a:t>
            </a:r>
            <a:r>
              <a:rPr lang="en-US" altLang="zh-CN" sz="900"/>
              <a:t>arrow</a:t>
            </a:r>
            <a:endParaRPr lang="en-US" altLang="zh-CN" sz="900"/>
          </a:p>
        </p:txBody>
      </p:sp>
      <p:cxnSp>
        <p:nvCxnSpPr>
          <p:cNvPr id="41" name="肘形连接符 40"/>
          <p:cNvCxnSpPr>
            <a:stCxn id="8" idx="2"/>
            <a:endCxn id="39" idx="1"/>
          </p:cNvCxnSpPr>
          <p:nvPr>
            <p:custDataLst>
              <p:tags r:id="rId19"/>
            </p:custDataLst>
          </p:nvPr>
        </p:nvCxnSpPr>
        <p:spPr>
          <a:xfrm rot="5400000" flipV="1">
            <a:off x="2726690" y="1942465"/>
            <a:ext cx="1085215" cy="2455545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3468370" y="3483610"/>
            <a:ext cx="759460" cy="22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png bytes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969645" y="2774315"/>
            <a:ext cx="107188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HTTP 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response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indent="0" algn="ctr">
              <a:buFont typeface="+mj-ea"/>
              <a:buNone/>
            </a:pP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22"/>
            </p:custDataLst>
          </p:nvPr>
        </p:nvSpPr>
        <p:spPr>
          <a:xfrm>
            <a:off x="5205095" y="4199890"/>
            <a:ext cx="94678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/>
              <a:t>arrow table</a:t>
            </a:r>
            <a:endParaRPr lang="en-US" altLang="zh-CN" sz="1000"/>
          </a:p>
        </p:txBody>
      </p:sp>
      <p:sp>
        <p:nvSpPr>
          <p:cNvPr id="48" name="矩形 47"/>
          <p:cNvSpPr/>
          <p:nvPr>
            <p:custDataLst>
              <p:tags r:id="rId23"/>
            </p:custDataLst>
          </p:nvPr>
        </p:nvSpPr>
        <p:spPr>
          <a:xfrm>
            <a:off x="7214870" y="1718310"/>
            <a:ext cx="2329180" cy="370903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9" name="文本框 48"/>
          <p:cNvSpPr txBox="1"/>
          <p:nvPr>
            <p:custDataLst>
              <p:tags r:id="rId24"/>
            </p:custDataLst>
          </p:nvPr>
        </p:nvSpPr>
        <p:spPr>
          <a:xfrm>
            <a:off x="3850640" y="3322955"/>
            <a:ext cx="688975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to_arrow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25"/>
            </p:custDataLst>
          </p:nvPr>
        </p:nvSpPr>
        <p:spPr>
          <a:xfrm>
            <a:off x="8209915" y="2993390"/>
            <a:ext cx="415925" cy="21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fd1</a:t>
            </a:r>
            <a:endParaRPr lang="en-US" altLang="zh-CN" sz="900"/>
          </a:p>
        </p:txBody>
      </p:sp>
      <p:sp>
        <p:nvSpPr>
          <p:cNvPr id="53" name="文本框 52"/>
          <p:cNvSpPr txBox="1"/>
          <p:nvPr>
            <p:custDataLst>
              <p:tags r:id="rId26"/>
            </p:custDataLst>
          </p:nvPr>
        </p:nvSpPr>
        <p:spPr>
          <a:xfrm>
            <a:off x="7274560" y="2804795"/>
            <a:ext cx="1131570" cy="220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read_all, filter, sql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矩形 54"/>
          <p:cNvSpPr/>
          <p:nvPr>
            <p:custDataLst>
              <p:tags r:id="rId27"/>
            </p:custDataLst>
          </p:nvPr>
        </p:nvSpPr>
        <p:spPr>
          <a:xfrm>
            <a:off x="7334250" y="3561080"/>
            <a:ext cx="901700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28"/>
            </p:custDataLst>
          </p:nvPr>
        </p:nvSpPr>
        <p:spPr>
          <a:xfrm>
            <a:off x="8209915" y="3512185"/>
            <a:ext cx="415925" cy="21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fd2</a:t>
            </a:r>
            <a:endParaRPr lang="en-US" altLang="zh-CN" sz="900"/>
          </a:p>
        </p:txBody>
      </p:sp>
      <p:cxnSp>
        <p:nvCxnSpPr>
          <p:cNvPr id="57" name="直接箭头连接符 56"/>
          <p:cNvCxnSpPr/>
          <p:nvPr>
            <p:custDataLst>
              <p:tags r:id="rId29"/>
            </p:custDataLst>
          </p:nvPr>
        </p:nvCxnSpPr>
        <p:spPr>
          <a:xfrm>
            <a:off x="6189980" y="3213100"/>
            <a:ext cx="116141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>
            <p:custDataLst>
              <p:tags r:id="rId30"/>
            </p:custDataLst>
          </p:nvPr>
        </p:nvCxnSpPr>
        <p:spPr>
          <a:xfrm flipV="1">
            <a:off x="6151880" y="3695065"/>
            <a:ext cx="1194435" cy="508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2852420" y="3137535"/>
            <a:ext cx="688340" cy="650240"/>
            <a:chOff x="5373" y="5320"/>
            <a:chExt cx="1084" cy="1024"/>
          </a:xfrm>
        </p:grpSpPr>
        <p:sp>
          <p:nvSpPr>
            <p:cNvPr id="63" name="流程图: 直接访问存储器 62"/>
            <p:cNvSpPr/>
            <p:nvPr/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31"/>
              </p:custDataLst>
            </p:nvPr>
          </p:nvSpPr>
          <p:spPr>
            <a:xfrm>
              <a:off x="5373" y="5607"/>
              <a:ext cx="1085" cy="3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format?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67" name="文本框 66"/>
          <p:cNvSpPr txBox="1"/>
          <p:nvPr>
            <p:custDataLst>
              <p:tags r:id="rId32"/>
            </p:custDataLst>
          </p:nvPr>
        </p:nvSpPr>
        <p:spPr>
          <a:xfrm>
            <a:off x="6327140" y="3242945"/>
            <a:ext cx="94742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arrow table </a:t>
            </a:r>
            <a:endParaRPr lang="en-US" altLang="zh-CN" sz="900">
              <a:solidFill>
                <a:schemeClr val="accent6"/>
              </a:solidFill>
            </a:endParaRPr>
          </a:p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/ record batch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74" name="文本框 73"/>
          <p:cNvSpPr txBox="1"/>
          <p:nvPr>
            <p:custDataLst>
              <p:tags r:id="rId33"/>
            </p:custDataLst>
          </p:nvPr>
        </p:nvSpPr>
        <p:spPr>
          <a:xfrm>
            <a:off x="8958580" y="3731895"/>
            <a:ext cx="68770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to_png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5" name="直接箭头连接符 74"/>
          <p:cNvCxnSpPr/>
          <p:nvPr>
            <p:custDataLst>
              <p:tags r:id="rId34"/>
            </p:custDataLst>
          </p:nvPr>
        </p:nvCxnSpPr>
        <p:spPr>
          <a:xfrm>
            <a:off x="8235950" y="3695065"/>
            <a:ext cx="153860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/>
          <p:nvPr>
            <p:custDataLst>
              <p:tags r:id="rId35"/>
            </p:custDataLst>
          </p:nvPr>
        </p:nvSpPr>
        <p:spPr>
          <a:xfrm>
            <a:off x="9774555" y="3561080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PIL image</a:t>
            </a:r>
            <a:endParaRPr lang="en-US" altLang="zh-CN" sz="1000">
              <a:solidFill>
                <a:schemeClr val="tx1"/>
              </a:solidFill>
            </a:endParaRPr>
          </a:p>
        </p:txBody>
      </p:sp>
      <p:cxnSp>
        <p:nvCxnSpPr>
          <p:cNvPr id="78" name="直接箭头连接符 77"/>
          <p:cNvCxnSpPr>
            <a:stCxn id="25" idx="3"/>
            <a:endCxn id="79" idx="1"/>
          </p:cNvCxnSpPr>
          <p:nvPr>
            <p:custDataLst>
              <p:tags r:id="rId36"/>
            </p:custDataLst>
          </p:nvPr>
        </p:nvCxnSpPr>
        <p:spPr>
          <a:xfrm>
            <a:off x="8235950" y="3197225"/>
            <a:ext cx="1538605" cy="0"/>
          </a:xfrm>
          <a:prstGeom prst="straightConnector1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>
            <p:custDataLst>
              <p:tags r:id="rId37"/>
            </p:custDataLst>
          </p:nvPr>
        </p:nvSpPr>
        <p:spPr>
          <a:xfrm>
            <a:off x="9774555" y="3063240"/>
            <a:ext cx="948055" cy="2673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tx1"/>
                </a:solidFill>
              </a:rPr>
              <a:t>Pandas df</a:t>
            </a:r>
            <a:endParaRPr lang="en-US" altLang="zh-CN" sz="1000">
              <a:solidFill>
                <a:schemeClr val="tx1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467090" y="3137535"/>
            <a:ext cx="947420" cy="650240"/>
            <a:chOff x="5123" y="5320"/>
            <a:chExt cx="1492" cy="1024"/>
          </a:xfrm>
        </p:grpSpPr>
        <p:sp>
          <p:nvSpPr>
            <p:cNvPr id="69" name="流程图: 直接访问存储器 68"/>
            <p:cNvSpPr/>
            <p:nvPr>
              <p:custDataLst>
                <p:tags r:id="rId38"/>
              </p:custDataLst>
            </p:nvPr>
          </p:nvSpPr>
          <p:spPr>
            <a:xfrm>
              <a:off x="5462" y="5320"/>
              <a:ext cx="881" cy="102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39"/>
              </p:custDataLst>
            </p:nvPr>
          </p:nvSpPr>
          <p:spPr>
            <a:xfrm>
              <a:off x="5123" y="5645"/>
              <a:ext cx="1492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algn="ctr">
                <a:buFont typeface="+mj-ea"/>
                <a:buNone/>
              </a:pPr>
              <a:r>
                <a:rPr lang="en-US" altLang="zh-CN" sz="900">
                  <a:solidFill>
                    <a:schemeClr val="tx1"/>
                  </a:solidFill>
                </a:rPr>
                <a:t>transformer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</p:grpSp>
      <p:sp>
        <p:nvSpPr>
          <p:cNvPr id="81" name="文本框 80"/>
          <p:cNvSpPr txBox="1"/>
          <p:nvPr>
            <p:custDataLst>
              <p:tags r:id="rId40"/>
            </p:custDataLst>
          </p:nvPr>
        </p:nvSpPr>
        <p:spPr>
          <a:xfrm>
            <a:off x="8894445" y="2919095"/>
            <a:ext cx="815975" cy="218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rPr>
              <a:t>to_pandas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上下箭头 2"/>
          <p:cNvSpPr/>
          <p:nvPr>
            <p:custDataLst>
              <p:tags r:id="rId41"/>
            </p:custDataLst>
          </p:nvPr>
        </p:nvSpPr>
        <p:spPr>
          <a:xfrm rot="5400000">
            <a:off x="4938395" y="4046220"/>
            <a:ext cx="299085" cy="415925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42"/>
            </p:custDataLst>
          </p:nvPr>
        </p:nvSpPr>
        <p:spPr>
          <a:xfrm>
            <a:off x="4801870" y="4428490"/>
            <a:ext cx="759460" cy="325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i="1">
                <a:solidFill>
                  <a:schemeClr val="accent6"/>
                </a:solidFill>
              </a:rPr>
              <a:t>memory-mapping</a:t>
            </a:r>
            <a:endParaRPr lang="en-US" altLang="zh-CN" sz="1000" i="1">
              <a:solidFill>
                <a:schemeClr val="accent6"/>
              </a:solidFill>
            </a:endParaRPr>
          </a:p>
        </p:txBody>
      </p:sp>
      <p:cxnSp>
        <p:nvCxnSpPr>
          <p:cNvPr id="15" name="肘形连接符 14"/>
          <p:cNvCxnSpPr>
            <a:stCxn id="8" idx="2"/>
            <a:endCxn id="29" idx="1"/>
          </p:cNvCxnSpPr>
          <p:nvPr>
            <p:custDataLst>
              <p:tags r:id="rId43"/>
            </p:custDataLst>
          </p:nvPr>
        </p:nvCxnSpPr>
        <p:spPr>
          <a:xfrm rot="5400000" flipV="1">
            <a:off x="3486150" y="1183640"/>
            <a:ext cx="2454275" cy="5342890"/>
          </a:xfrm>
          <a:prstGeom prst="bentConnector2">
            <a:avLst/>
          </a:prstGeom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流程图: 决策 29"/>
          <p:cNvSpPr/>
          <p:nvPr>
            <p:custDataLst>
              <p:tags r:id="rId44"/>
            </p:custDataLst>
          </p:nvPr>
        </p:nvSpPr>
        <p:spPr>
          <a:xfrm>
            <a:off x="1505585" y="4428490"/>
            <a:ext cx="1071245" cy="47244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</a:rPr>
              <a:t>streaming=</a:t>
            </a:r>
            <a:endParaRPr lang="en-US" altLang="zh-CN" sz="8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</a:rPr>
              <a:t>True</a:t>
            </a:r>
            <a:endParaRPr lang="en-US" altLang="zh-CN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45"/>
            </p:custDataLst>
          </p:nvPr>
        </p:nvGraphicFramePr>
        <p:xfrm>
          <a:off x="3775075" y="4756150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>
            <p:custDataLst>
              <p:tags r:id="rId46"/>
            </p:custDataLst>
          </p:nvPr>
        </p:nvGraphicFramePr>
        <p:xfrm>
          <a:off x="3892550" y="4902200"/>
          <a:ext cx="604520" cy="1257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30"/>
                <a:gridCol w="151130"/>
                <a:gridCol w="151130"/>
                <a:gridCol w="151130"/>
              </a:tblGrid>
              <a:tr h="125730"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ts val="0"/>
                        </a:lnSpc>
                        <a:buNone/>
                      </a:pPr>
                      <a:endParaRPr lang="zh-CN" altLang="en-US" sz="600"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85AFF9"/>
                    </a:solidFill>
                  </a:tcPr>
                </a:tc>
              </a:tr>
            </a:tbl>
          </a:graphicData>
        </a:graphic>
      </p:graphicFrame>
      <p:sp>
        <p:nvSpPr>
          <p:cNvPr id="27" name="文本框 26"/>
          <p:cNvSpPr txBox="1"/>
          <p:nvPr>
            <p:custDataLst>
              <p:tags r:id="rId47"/>
            </p:custDataLst>
          </p:nvPr>
        </p:nvSpPr>
        <p:spPr>
          <a:xfrm>
            <a:off x="2625090" y="4875530"/>
            <a:ext cx="118872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+mj-ea"/>
              <a:buNone/>
            </a:pPr>
            <a:r>
              <a:rPr lang="en-US" altLang="zh-CN" sz="900">
                <a:solidFill>
                  <a:schemeClr val="accent6"/>
                </a:solidFill>
              </a:rPr>
              <a:t>data bytes (chunk)</a:t>
            </a:r>
            <a:endParaRPr lang="en-US" altLang="zh-CN" sz="900">
              <a:solidFill>
                <a:schemeClr val="accent6"/>
              </a:solidFill>
            </a:endParaRPr>
          </a:p>
        </p:txBody>
      </p:sp>
      <p:sp>
        <p:nvSpPr>
          <p:cNvPr id="29" name="矩形 28"/>
          <p:cNvSpPr/>
          <p:nvPr>
            <p:custDataLst>
              <p:tags r:id="rId48"/>
            </p:custDataLst>
          </p:nvPr>
        </p:nvSpPr>
        <p:spPr>
          <a:xfrm>
            <a:off x="7384415" y="4948555"/>
            <a:ext cx="1348105" cy="2673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000">
                <a:solidFill>
                  <a:schemeClr val="bg1"/>
                </a:solidFill>
              </a:rPr>
              <a:t>IterableDataFrame</a:t>
            </a:r>
            <a:endParaRPr lang="en-US" altLang="zh-CN" sz="1000">
              <a:solidFill>
                <a:schemeClr val="bg1"/>
              </a:solidFill>
            </a:endParaRPr>
          </a:p>
        </p:txBody>
      </p:sp>
      <p:sp>
        <p:nvSpPr>
          <p:cNvPr id="35" name="左大括号 34"/>
          <p:cNvSpPr/>
          <p:nvPr/>
        </p:nvSpPr>
        <p:spPr>
          <a:xfrm rot="16200000">
            <a:off x="4380230" y="4091940"/>
            <a:ext cx="471805" cy="3726815"/>
          </a:xfrm>
          <a:prstGeom prst="leftBrace">
            <a:avLst>
              <a:gd name="adj1" fmla="val 8333"/>
              <a:gd name="adj2" fmla="val 5000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001010" y="6264275"/>
            <a:ext cx="3980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i="1"/>
              <a:t>faird DataFrame </a:t>
            </a:r>
            <a:r>
              <a:rPr lang="zh-CN" altLang="en-US" sz="1000" i="1"/>
              <a:t>中封装</a:t>
            </a:r>
            <a:r>
              <a:rPr lang="en-US" altLang="zh-CN" sz="1000" i="1"/>
              <a:t> huggingface datasets</a:t>
            </a:r>
            <a:r>
              <a:rPr lang="zh-CN" altLang="en-US" sz="1000" i="1"/>
              <a:t>实现？调研中</a:t>
            </a:r>
            <a:r>
              <a:rPr lang="en-US" altLang="zh-CN" sz="1000" i="1"/>
              <a:t>...</a:t>
            </a:r>
            <a:endParaRPr lang="en-US" altLang="zh-CN" sz="1000" i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ABLE_ENDDRAG_ORIGIN_RECT" val="54*28"/>
  <p:tag name="TABLE_ENDDRAG_RECT" val="363*254*54*28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77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TABLE_ENDDRAG_ORIGIN_RECT" val="54*28"/>
  <p:tag name="TABLE_ENDDRAG_RECT" val="363*254*54*28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133.xml><?xml version="1.0" encoding="utf-8"?>
<p:tagLst xmlns:p="http://schemas.openxmlformats.org/presentationml/2006/main">
  <p:tag name="TABLE_ENDDRAG_ORIGIN_RECT" val="54*28"/>
  <p:tag name="TABLE_ENDDRAG_RECT" val="363*254*54*28"/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WPS 演示</Application>
  <PresentationFormat>宽屏</PresentationFormat>
  <Paragraphs>253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yaxuan</cp:lastModifiedBy>
  <cp:revision>242</cp:revision>
  <dcterms:created xsi:type="dcterms:W3CDTF">2024-07-10T08:49:47Z</dcterms:created>
  <dcterms:modified xsi:type="dcterms:W3CDTF">2024-07-10T08:49:47Z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5D5D700AB41201BACD23826602A3C82E_41</vt:lpwstr>
  </property>
</Properties>
</file>